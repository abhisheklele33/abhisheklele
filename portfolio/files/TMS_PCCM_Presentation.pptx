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80" r:id="rId3"/>
    <p:sldId id="257" r:id="rId4"/>
    <p:sldId id="258" r:id="rId5"/>
    <p:sldId id="260" r:id="rId6"/>
    <p:sldId id="261" r:id="rId7"/>
    <p:sldId id="262" r:id="rId8"/>
    <p:sldId id="263" r:id="rId9"/>
    <p:sldId id="264" r:id="rId10"/>
    <p:sldId id="265" r:id="rId11"/>
    <p:sldId id="273" r:id="rId12"/>
    <p:sldId id="266" r:id="rId13"/>
    <p:sldId id="267" r:id="rId14"/>
    <p:sldId id="268" r:id="rId15"/>
    <p:sldId id="269" r:id="rId16"/>
    <p:sldId id="270" r:id="rId17"/>
    <p:sldId id="271" r:id="rId18"/>
    <p:sldId id="272" r:id="rId19"/>
    <p:sldId id="281" r:id="rId20"/>
    <p:sldId id="274" r:id="rId21"/>
    <p:sldId id="275" r:id="rId22"/>
    <p:sldId id="276" r:id="rId23"/>
    <p:sldId id="277" r:id="rId24"/>
    <p:sldId id="279" r:id="rId25"/>
    <p:sldId id="27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554804-D945-4814-B27F-ED8B5494493D}"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IN"/>
        </a:p>
      </dgm:t>
    </dgm:pt>
    <dgm:pt modelId="{893D1087-3BEA-4204-8A02-5C92A00CBB60}">
      <dgm:prSet phldrT="[Text]" phldr="0"/>
      <dgm:spPr/>
      <dgm:t>
        <a:bodyPr/>
        <a:lstStyle/>
        <a:p>
          <a:r>
            <a:rPr lang="en-IN" dirty="0"/>
            <a:t>Motor Symptoms</a:t>
          </a:r>
        </a:p>
      </dgm:t>
    </dgm:pt>
    <dgm:pt modelId="{9D478B1A-3DE5-4C30-8CB5-7882128301B4}" type="parTrans" cxnId="{DDCAB2D2-2A8C-4F6C-BD63-6D9B4F4F1079}">
      <dgm:prSet/>
      <dgm:spPr/>
      <dgm:t>
        <a:bodyPr/>
        <a:lstStyle/>
        <a:p>
          <a:endParaRPr lang="en-IN"/>
        </a:p>
      </dgm:t>
    </dgm:pt>
    <dgm:pt modelId="{3BE26426-FC20-47E0-8F01-28A14685A010}" type="sibTrans" cxnId="{DDCAB2D2-2A8C-4F6C-BD63-6D9B4F4F1079}">
      <dgm:prSet/>
      <dgm:spPr/>
      <dgm:t>
        <a:bodyPr/>
        <a:lstStyle/>
        <a:p>
          <a:endParaRPr lang="en-IN"/>
        </a:p>
      </dgm:t>
    </dgm:pt>
    <dgm:pt modelId="{0A8B2DC8-BBD2-4456-8683-B59D39E12593}">
      <dgm:prSet phldrT="[Text]" phldr="0"/>
      <dgm:spPr/>
      <dgm:t>
        <a:bodyPr/>
        <a:lstStyle/>
        <a:p>
          <a:r>
            <a:rPr lang="en-IN" dirty="0"/>
            <a:t>Tremor</a:t>
          </a:r>
        </a:p>
      </dgm:t>
    </dgm:pt>
    <dgm:pt modelId="{74CC0DD0-B454-4E0F-90A0-2EFB719C9E41}" type="parTrans" cxnId="{A5216144-3565-488C-9FFE-F61035C4FAC6}">
      <dgm:prSet/>
      <dgm:spPr/>
      <dgm:t>
        <a:bodyPr/>
        <a:lstStyle/>
        <a:p>
          <a:endParaRPr lang="en-IN"/>
        </a:p>
      </dgm:t>
    </dgm:pt>
    <dgm:pt modelId="{89D152D5-6C48-47E1-A88E-6438EEC7B0FE}" type="sibTrans" cxnId="{A5216144-3565-488C-9FFE-F61035C4FAC6}">
      <dgm:prSet/>
      <dgm:spPr/>
      <dgm:t>
        <a:bodyPr/>
        <a:lstStyle/>
        <a:p>
          <a:endParaRPr lang="en-IN"/>
        </a:p>
      </dgm:t>
    </dgm:pt>
    <dgm:pt modelId="{DFB52D96-8C69-44B9-BC32-2BE8CCC9A1AF}">
      <dgm:prSet phldrT="[Text]" phldr="0"/>
      <dgm:spPr/>
      <dgm:t>
        <a:bodyPr/>
        <a:lstStyle/>
        <a:p>
          <a:r>
            <a:rPr lang="en-IN" dirty="0"/>
            <a:t>Rigidity</a:t>
          </a:r>
        </a:p>
      </dgm:t>
    </dgm:pt>
    <dgm:pt modelId="{0BF2F933-B17D-48E8-96ED-BC0B14E5EEBC}" type="parTrans" cxnId="{A63FD744-A221-40E6-95E4-CB9EA37F97A5}">
      <dgm:prSet/>
      <dgm:spPr/>
      <dgm:t>
        <a:bodyPr/>
        <a:lstStyle/>
        <a:p>
          <a:endParaRPr lang="en-IN"/>
        </a:p>
      </dgm:t>
    </dgm:pt>
    <dgm:pt modelId="{73841ACB-24E5-41FC-B1D2-1CECFB1F6EFD}" type="sibTrans" cxnId="{A63FD744-A221-40E6-95E4-CB9EA37F97A5}">
      <dgm:prSet/>
      <dgm:spPr/>
      <dgm:t>
        <a:bodyPr/>
        <a:lstStyle/>
        <a:p>
          <a:endParaRPr lang="en-IN"/>
        </a:p>
      </dgm:t>
    </dgm:pt>
    <dgm:pt modelId="{D2DB0B28-B536-4F93-AB44-BBA06266640F}">
      <dgm:prSet phldrT="[Text]" phldr="0"/>
      <dgm:spPr/>
      <dgm:t>
        <a:bodyPr/>
        <a:lstStyle/>
        <a:p>
          <a:r>
            <a:rPr lang="en-IN" dirty="0"/>
            <a:t>Non-Motor Symptoms</a:t>
          </a:r>
        </a:p>
      </dgm:t>
    </dgm:pt>
    <dgm:pt modelId="{01FD6681-4211-4CA1-9A8C-E052A3272056}" type="parTrans" cxnId="{BB5CD18B-9A85-4672-B459-DEA047780703}">
      <dgm:prSet/>
      <dgm:spPr/>
      <dgm:t>
        <a:bodyPr/>
        <a:lstStyle/>
        <a:p>
          <a:endParaRPr lang="en-IN"/>
        </a:p>
      </dgm:t>
    </dgm:pt>
    <dgm:pt modelId="{B3508D5E-E0AE-4394-B517-1F6F128BFAD2}" type="sibTrans" cxnId="{BB5CD18B-9A85-4672-B459-DEA047780703}">
      <dgm:prSet/>
      <dgm:spPr/>
      <dgm:t>
        <a:bodyPr/>
        <a:lstStyle/>
        <a:p>
          <a:endParaRPr lang="en-IN"/>
        </a:p>
      </dgm:t>
    </dgm:pt>
    <dgm:pt modelId="{D0F42669-1392-4D22-8818-8474A6C11329}">
      <dgm:prSet phldrT="[Text]" phldr="0"/>
      <dgm:spPr/>
      <dgm:t>
        <a:bodyPr/>
        <a:lstStyle/>
        <a:p>
          <a:r>
            <a:rPr lang="en-IN" dirty="0"/>
            <a:t>Mood Disorders</a:t>
          </a:r>
        </a:p>
      </dgm:t>
    </dgm:pt>
    <dgm:pt modelId="{C868E398-5EC1-4D10-8589-EA95A47F80F6}" type="parTrans" cxnId="{00EBA711-B078-4A15-BFEC-266896B3DB2E}">
      <dgm:prSet/>
      <dgm:spPr/>
      <dgm:t>
        <a:bodyPr/>
        <a:lstStyle/>
        <a:p>
          <a:endParaRPr lang="en-IN"/>
        </a:p>
      </dgm:t>
    </dgm:pt>
    <dgm:pt modelId="{D6491990-2239-4E0D-905E-EC1CEE89C720}" type="sibTrans" cxnId="{00EBA711-B078-4A15-BFEC-266896B3DB2E}">
      <dgm:prSet/>
      <dgm:spPr/>
      <dgm:t>
        <a:bodyPr/>
        <a:lstStyle/>
        <a:p>
          <a:endParaRPr lang="en-IN"/>
        </a:p>
      </dgm:t>
    </dgm:pt>
    <dgm:pt modelId="{C20B565E-8F92-4B7D-AF3F-1DD38639B90E}">
      <dgm:prSet phldrT="[Text]" phldr="0"/>
      <dgm:spPr/>
      <dgm:t>
        <a:bodyPr/>
        <a:lstStyle/>
        <a:p>
          <a:r>
            <a:rPr lang="en-IN" dirty="0"/>
            <a:t>Bradykinesia</a:t>
          </a:r>
        </a:p>
      </dgm:t>
    </dgm:pt>
    <dgm:pt modelId="{F4225E86-70ED-4D2E-947E-74943893B121}" type="parTrans" cxnId="{1B8CABEA-09B4-43EB-A0C6-8994BAC92072}">
      <dgm:prSet/>
      <dgm:spPr/>
      <dgm:t>
        <a:bodyPr/>
        <a:lstStyle/>
        <a:p>
          <a:endParaRPr lang="en-IN"/>
        </a:p>
      </dgm:t>
    </dgm:pt>
    <dgm:pt modelId="{74EFC9BA-F6CB-46B7-94EB-187D1DB040E5}" type="sibTrans" cxnId="{1B8CABEA-09B4-43EB-A0C6-8994BAC92072}">
      <dgm:prSet/>
      <dgm:spPr/>
      <dgm:t>
        <a:bodyPr/>
        <a:lstStyle/>
        <a:p>
          <a:endParaRPr lang="en-IN"/>
        </a:p>
      </dgm:t>
    </dgm:pt>
    <dgm:pt modelId="{2B6D3467-DDE8-4856-B8A5-677C48088981}">
      <dgm:prSet phldrT="[Text]" phldr="0"/>
      <dgm:spPr/>
      <dgm:t>
        <a:bodyPr/>
        <a:lstStyle/>
        <a:p>
          <a:r>
            <a:rPr lang="en-IN"/>
            <a:t>Instability</a:t>
          </a:r>
          <a:endParaRPr lang="en-IN" dirty="0"/>
        </a:p>
      </dgm:t>
    </dgm:pt>
    <dgm:pt modelId="{5676342B-6B62-46A0-9A61-3BA1EE4783BD}" type="parTrans" cxnId="{BB01C54D-B7BE-4AC7-BC6D-79BD2A8723E8}">
      <dgm:prSet/>
      <dgm:spPr/>
      <dgm:t>
        <a:bodyPr/>
        <a:lstStyle/>
        <a:p>
          <a:endParaRPr lang="en-IN"/>
        </a:p>
      </dgm:t>
    </dgm:pt>
    <dgm:pt modelId="{F4DCFCFA-EC6E-464E-A684-8E510120274C}" type="sibTrans" cxnId="{BB01C54D-B7BE-4AC7-BC6D-79BD2A8723E8}">
      <dgm:prSet/>
      <dgm:spPr/>
      <dgm:t>
        <a:bodyPr/>
        <a:lstStyle/>
        <a:p>
          <a:endParaRPr lang="en-IN"/>
        </a:p>
      </dgm:t>
    </dgm:pt>
    <dgm:pt modelId="{F4771A4F-59B5-456A-B936-5D3A5F06445A}">
      <dgm:prSet phldrT="[Text]" phldr="0"/>
      <dgm:spPr/>
      <dgm:t>
        <a:bodyPr/>
        <a:lstStyle/>
        <a:p>
          <a:r>
            <a:rPr lang="en-IN"/>
            <a:t>Gait Impairment</a:t>
          </a:r>
          <a:endParaRPr lang="en-IN" dirty="0"/>
        </a:p>
      </dgm:t>
    </dgm:pt>
    <dgm:pt modelId="{4199C99B-AB76-4267-B8B9-EDD74622A109}" type="parTrans" cxnId="{02FFB3F9-0039-4534-91B7-EE9B97929E2B}">
      <dgm:prSet/>
      <dgm:spPr/>
      <dgm:t>
        <a:bodyPr/>
        <a:lstStyle/>
        <a:p>
          <a:endParaRPr lang="en-IN"/>
        </a:p>
      </dgm:t>
    </dgm:pt>
    <dgm:pt modelId="{2EB809D1-F701-4511-A925-EB1E9A287682}" type="sibTrans" cxnId="{02FFB3F9-0039-4534-91B7-EE9B97929E2B}">
      <dgm:prSet/>
      <dgm:spPr/>
      <dgm:t>
        <a:bodyPr/>
        <a:lstStyle/>
        <a:p>
          <a:endParaRPr lang="en-IN"/>
        </a:p>
      </dgm:t>
    </dgm:pt>
    <dgm:pt modelId="{D02FA32D-8E12-4759-928F-3046CDD27D4D}">
      <dgm:prSet phldrT="[Text]" phldr="0"/>
      <dgm:spPr/>
      <dgm:t>
        <a:bodyPr/>
        <a:lstStyle/>
        <a:p>
          <a:r>
            <a:rPr lang="en-IN"/>
            <a:t>Sleep Disturbances</a:t>
          </a:r>
          <a:endParaRPr lang="en-IN" dirty="0"/>
        </a:p>
      </dgm:t>
    </dgm:pt>
    <dgm:pt modelId="{F547E12A-11AC-4D05-A731-C5993EE48B31}" type="parTrans" cxnId="{F46EB242-4653-44CB-B5B8-7C5A12C5AC22}">
      <dgm:prSet/>
      <dgm:spPr/>
      <dgm:t>
        <a:bodyPr/>
        <a:lstStyle/>
        <a:p>
          <a:endParaRPr lang="en-IN"/>
        </a:p>
      </dgm:t>
    </dgm:pt>
    <dgm:pt modelId="{C4830FB0-CDD4-48D0-BEA4-59800EFB660D}" type="sibTrans" cxnId="{F46EB242-4653-44CB-B5B8-7C5A12C5AC22}">
      <dgm:prSet/>
      <dgm:spPr/>
      <dgm:t>
        <a:bodyPr/>
        <a:lstStyle/>
        <a:p>
          <a:endParaRPr lang="en-IN"/>
        </a:p>
      </dgm:t>
    </dgm:pt>
    <dgm:pt modelId="{00A09B7D-6B43-4A84-A5B2-6C480B915F35}">
      <dgm:prSet phldrT="[Text]" phldr="0"/>
      <dgm:spPr/>
      <dgm:t>
        <a:bodyPr/>
        <a:lstStyle/>
        <a:p>
          <a:r>
            <a:rPr lang="en-IN"/>
            <a:t>Cognitive Impairments</a:t>
          </a:r>
          <a:endParaRPr lang="en-IN" dirty="0"/>
        </a:p>
      </dgm:t>
    </dgm:pt>
    <dgm:pt modelId="{A7E3559A-8108-48BF-92C0-F22516274A4B}" type="parTrans" cxnId="{3E637B41-8B27-45A7-AC96-DA04E0F49DCB}">
      <dgm:prSet/>
      <dgm:spPr/>
      <dgm:t>
        <a:bodyPr/>
        <a:lstStyle/>
        <a:p>
          <a:endParaRPr lang="en-IN"/>
        </a:p>
      </dgm:t>
    </dgm:pt>
    <dgm:pt modelId="{4AA0C5EC-71DA-438E-A4B2-065E3F39A2AC}" type="sibTrans" cxnId="{3E637B41-8B27-45A7-AC96-DA04E0F49DCB}">
      <dgm:prSet/>
      <dgm:spPr/>
      <dgm:t>
        <a:bodyPr/>
        <a:lstStyle/>
        <a:p>
          <a:endParaRPr lang="en-IN"/>
        </a:p>
      </dgm:t>
    </dgm:pt>
    <dgm:pt modelId="{1052CFD5-3AE8-4058-9C6E-E7EDD7909348}" type="pres">
      <dgm:prSet presAssocID="{EA554804-D945-4814-B27F-ED8B5494493D}" presName="diagram" presStyleCnt="0">
        <dgm:presLayoutVars>
          <dgm:chPref val="1"/>
          <dgm:dir/>
          <dgm:animOne val="branch"/>
          <dgm:animLvl val="lvl"/>
          <dgm:resizeHandles/>
        </dgm:presLayoutVars>
      </dgm:prSet>
      <dgm:spPr/>
    </dgm:pt>
    <dgm:pt modelId="{42909D09-96F1-4CEA-8A86-4DCC464DE5DB}" type="pres">
      <dgm:prSet presAssocID="{893D1087-3BEA-4204-8A02-5C92A00CBB60}" presName="root" presStyleCnt="0"/>
      <dgm:spPr/>
    </dgm:pt>
    <dgm:pt modelId="{2FD9790B-E622-45C7-A988-2B6EEE165496}" type="pres">
      <dgm:prSet presAssocID="{893D1087-3BEA-4204-8A02-5C92A00CBB60}" presName="rootComposite" presStyleCnt="0"/>
      <dgm:spPr/>
    </dgm:pt>
    <dgm:pt modelId="{48CFAFF3-33AA-4BF3-8A33-6B8B2A7D22A7}" type="pres">
      <dgm:prSet presAssocID="{893D1087-3BEA-4204-8A02-5C92A00CBB60}" presName="rootText" presStyleLbl="node1" presStyleIdx="0" presStyleCnt="2"/>
      <dgm:spPr/>
    </dgm:pt>
    <dgm:pt modelId="{426423CB-C2C3-423E-8116-3F1BB18CE8C5}" type="pres">
      <dgm:prSet presAssocID="{893D1087-3BEA-4204-8A02-5C92A00CBB60}" presName="rootConnector" presStyleLbl="node1" presStyleIdx="0" presStyleCnt="2"/>
      <dgm:spPr/>
    </dgm:pt>
    <dgm:pt modelId="{149C24FE-B8F4-41FE-87AE-1B28F4C08216}" type="pres">
      <dgm:prSet presAssocID="{893D1087-3BEA-4204-8A02-5C92A00CBB60}" presName="childShape" presStyleCnt="0"/>
      <dgm:spPr/>
    </dgm:pt>
    <dgm:pt modelId="{E06216CA-9B3E-44D7-9227-BBA0A54E48A7}" type="pres">
      <dgm:prSet presAssocID="{74CC0DD0-B454-4E0F-90A0-2EFB719C9E41}" presName="Name13" presStyleLbl="parChTrans1D2" presStyleIdx="0" presStyleCnt="8"/>
      <dgm:spPr/>
    </dgm:pt>
    <dgm:pt modelId="{C52C73B2-9536-4272-B706-9CA81F26B0F2}" type="pres">
      <dgm:prSet presAssocID="{0A8B2DC8-BBD2-4456-8683-B59D39E12593}" presName="childText" presStyleLbl="bgAcc1" presStyleIdx="0" presStyleCnt="8">
        <dgm:presLayoutVars>
          <dgm:bulletEnabled val="1"/>
        </dgm:presLayoutVars>
      </dgm:prSet>
      <dgm:spPr/>
    </dgm:pt>
    <dgm:pt modelId="{3D8A8BA3-D175-49CD-B74A-7A3456625195}" type="pres">
      <dgm:prSet presAssocID="{0BF2F933-B17D-48E8-96ED-BC0B14E5EEBC}" presName="Name13" presStyleLbl="parChTrans1D2" presStyleIdx="1" presStyleCnt="8"/>
      <dgm:spPr/>
    </dgm:pt>
    <dgm:pt modelId="{2B46DC03-EEAD-433C-9494-2DDED3F9E6F9}" type="pres">
      <dgm:prSet presAssocID="{DFB52D96-8C69-44B9-BC32-2BE8CCC9A1AF}" presName="childText" presStyleLbl="bgAcc1" presStyleIdx="1" presStyleCnt="8">
        <dgm:presLayoutVars>
          <dgm:bulletEnabled val="1"/>
        </dgm:presLayoutVars>
      </dgm:prSet>
      <dgm:spPr/>
    </dgm:pt>
    <dgm:pt modelId="{D603213B-5645-4993-A7B4-3672EE72083E}" type="pres">
      <dgm:prSet presAssocID="{F4225E86-70ED-4D2E-947E-74943893B121}" presName="Name13" presStyleLbl="parChTrans1D2" presStyleIdx="2" presStyleCnt="8"/>
      <dgm:spPr/>
    </dgm:pt>
    <dgm:pt modelId="{2765735D-C66F-4FEC-BC23-D7423913117F}" type="pres">
      <dgm:prSet presAssocID="{C20B565E-8F92-4B7D-AF3F-1DD38639B90E}" presName="childText" presStyleLbl="bgAcc1" presStyleIdx="2" presStyleCnt="8">
        <dgm:presLayoutVars>
          <dgm:bulletEnabled val="1"/>
        </dgm:presLayoutVars>
      </dgm:prSet>
      <dgm:spPr/>
    </dgm:pt>
    <dgm:pt modelId="{9061D599-78F7-4D29-8A01-B3AE6E8B12CD}" type="pres">
      <dgm:prSet presAssocID="{5676342B-6B62-46A0-9A61-3BA1EE4783BD}" presName="Name13" presStyleLbl="parChTrans1D2" presStyleIdx="3" presStyleCnt="8"/>
      <dgm:spPr/>
    </dgm:pt>
    <dgm:pt modelId="{0F42CABC-DD46-4DE2-8C89-6573D7D9E1F8}" type="pres">
      <dgm:prSet presAssocID="{2B6D3467-DDE8-4856-B8A5-677C48088981}" presName="childText" presStyleLbl="bgAcc1" presStyleIdx="3" presStyleCnt="8">
        <dgm:presLayoutVars>
          <dgm:bulletEnabled val="1"/>
        </dgm:presLayoutVars>
      </dgm:prSet>
      <dgm:spPr/>
    </dgm:pt>
    <dgm:pt modelId="{2BF519C9-68B3-4CCE-A31C-BAD840AFC0BB}" type="pres">
      <dgm:prSet presAssocID="{4199C99B-AB76-4267-B8B9-EDD74622A109}" presName="Name13" presStyleLbl="parChTrans1D2" presStyleIdx="4" presStyleCnt="8"/>
      <dgm:spPr/>
    </dgm:pt>
    <dgm:pt modelId="{4DAE6972-A905-424F-8141-8CB8DF08591A}" type="pres">
      <dgm:prSet presAssocID="{F4771A4F-59B5-456A-B936-5D3A5F06445A}" presName="childText" presStyleLbl="bgAcc1" presStyleIdx="4" presStyleCnt="8">
        <dgm:presLayoutVars>
          <dgm:bulletEnabled val="1"/>
        </dgm:presLayoutVars>
      </dgm:prSet>
      <dgm:spPr/>
    </dgm:pt>
    <dgm:pt modelId="{C694B749-5825-48FA-B9CB-AD0BC6C4BFDD}" type="pres">
      <dgm:prSet presAssocID="{D2DB0B28-B536-4F93-AB44-BBA06266640F}" presName="root" presStyleCnt="0"/>
      <dgm:spPr/>
    </dgm:pt>
    <dgm:pt modelId="{B6545349-2E97-4D6A-AA8D-9AC1C74A0AE2}" type="pres">
      <dgm:prSet presAssocID="{D2DB0B28-B536-4F93-AB44-BBA06266640F}" presName="rootComposite" presStyleCnt="0"/>
      <dgm:spPr/>
    </dgm:pt>
    <dgm:pt modelId="{8ADBA234-5102-4C4B-A65C-0D9F47DEE19B}" type="pres">
      <dgm:prSet presAssocID="{D2DB0B28-B536-4F93-AB44-BBA06266640F}" presName="rootText" presStyleLbl="node1" presStyleIdx="1" presStyleCnt="2"/>
      <dgm:spPr/>
    </dgm:pt>
    <dgm:pt modelId="{E9B3BC6C-442D-4895-8AB9-E0295CBF006D}" type="pres">
      <dgm:prSet presAssocID="{D2DB0B28-B536-4F93-AB44-BBA06266640F}" presName="rootConnector" presStyleLbl="node1" presStyleIdx="1" presStyleCnt="2"/>
      <dgm:spPr/>
    </dgm:pt>
    <dgm:pt modelId="{2242AA5E-4008-48F2-BBCA-4CDB76495D86}" type="pres">
      <dgm:prSet presAssocID="{D2DB0B28-B536-4F93-AB44-BBA06266640F}" presName="childShape" presStyleCnt="0"/>
      <dgm:spPr/>
    </dgm:pt>
    <dgm:pt modelId="{B3C0B0AE-2FFE-4C51-A8AF-3ED424B233C6}" type="pres">
      <dgm:prSet presAssocID="{C868E398-5EC1-4D10-8589-EA95A47F80F6}" presName="Name13" presStyleLbl="parChTrans1D2" presStyleIdx="5" presStyleCnt="8"/>
      <dgm:spPr/>
    </dgm:pt>
    <dgm:pt modelId="{822F5761-613A-4C1C-A208-780C0068FBBA}" type="pres">
      <dgm:prSet presAssocID="{D0F42669-1392-4D22-8818-8474A6C11329}" presName="childText" presStyleLbl="bgAcc1" presStyleIdx="5" presStyleCnt="8">
        <dgm:presLayoutVars>
          <dgm:bulletEnabled val="1"/>
        </dgm:presLayoutVars>
      </dgm:prSet>
      <dgm:spPr/>
    </dgm:pt>
    <dgm:pt modelId="{5599A968-E2CF-446D-97C4-6B62EE9073F2}" type="pres">
      <dgm:prSet presAssocID="{F547E12A-11AC-4D05-A731-C5993EE48B31}" presName="Name13" presStyleLbl="parChTrans1D2" presStyleIdx="6" presStyleCnt="8"/>
      <dgm:spPr/>
    </dgm:pt>
    <dgm:pt modelId="{4C40F53D-8AF6-4C4D-AF45-C2F9DF16C8AF}" type="pres">
      <dgm:prSet presAssocID="{D02FA32D-8E12-4759-928F-3046CDD27D4D}" presName="childText" presStyleLbl="bgAcc1" presStyleIdx="6" presStyleCnt="8">
        <dgm:presLayoutVars>
          <dgm:bulletEnabled val="1"/>
        </dgm:presLayoutVars>
      </dgm:prSet>
      <dgm:spPr/>
    </dgm:pt>
    <dgm:pt modelId="{FB55DA8A-B419-438D-A0C5-9FD8BCE4E591}" type="pres">
      <dgm:prSet presAssocID="{A7E3559A-8108-48BF-92C0-F22516274A4B}" presName="Name13" presStyleLbl="parChTrans1D2" presStyleIdx="7" presStyleCnt="8"/>
      <dgm:spPr/>
    </dgm:pt>
    <dgm:pt modelId="{B8BBD2B2-DA67-4C56-9991-4D30BD745542}" type="pres">
      <dgm:prSet presAssocID="{00A09B7D-6B43-4A84-A5B2-6C480B915F35}" presName="childText" presStyleLbl="bgAcc1" presStyleIdx="7" presStyleCnt="8">
        <dgm:presLayoutVars>
          <dgm:bulletEnabled val="1"/>
        </dgm:presLayoutVars>
      </dgm:prSet>
      <dgm:spPr/>
    </dgm:pt>
  </dgm:ptLst>
  <dgm:cxnLst>
    <dgm:cxn modelId="{9D308D11-5F9F-4118-B8C9-7C9723CCB267}" type="presOf" srcId="{2B6D3467-DDE8-4856-B8A5-677C48088981}" destId="{0F42CABC-DD46-4DE2-8C89-6573D7D9E1F8}" srcOrd="0" destOrd="0" presId="urn:microsoft.com/office/officeart/2005/8/layout/hierarchy3"/>
    <dgm:cxn modelId="{00EBA711-B078-4A15-BFEC-266896B3DB2E}" srcId="{D2DB0B28-B536-4F93-AB44-BBA06266640F}" destId="{D0F42669-1392-4D22-8818-8474A6C11329}" srcOrd="0" destOrd="0" parTransId="{C868E398-5EC1-4D10-8589-EA95A47F80F6}" sibTransId="{D6491990-2239-4E0D-905E-EC1CEE89C720}"/>
    <dgm:cxn modelId="{8FB81419-FE5B-4224-80BC-5CBA102D36AC}" type="presOf" srcId="{893D1087-3BEA-4204-8A02-5C92A00CBB60}" destId="{426423CB-C2C3-423E-8116-3F1BB18CE8C5}" srcOrd="1" destOrd="0" presId="urn:microsoft.com/office/officeart/2005/8/layout/hierarchy3"/>
    <dgm:cxn modelId="{00D1D828-8939-443C-B1FD-1BEC4F79004F}" type="presOf" srcId="{4199C99B-AB76-4267-B8B9-EDD74622A109}" destId="{2BF519C9-68B3-4CCE-A31C-BAD840AFC0BB}" srcOrd="0" destOrd="0" presId="urn:microsoft.com/office/officeart/2005/8/layout/hierarchy3"/>
    <dgm:cxn modelId="{6734B32C-C802-4527-837E-9673369EC2FB}" type="presOf" srcId="{0BF2F933-B17D-48E8-96ED-BC0B14E5EEBC}" destId="{3D8A8BA3-D175-49CD-B74A-7A3456625195}" srcOrd="0" destOrd="0" presId="urn:microsoft.com/office/officeart/2005/8/layout/hierarchy3"/>
    <dgm:cxn modelId="{83D54735-5895-42AE-8FE3-4A98DC73625B}" type="presOf" srcId="{D02FA32D-8E12-4759-928F-3046CDD27D4D}" destId="{4C40F53D-8AF6-4C4D-AF45-C2F9DF16C8AF}" srcOrd="0" destOrd="0" presId="urn:microsoft.com/office/officeart/2005/8/layout/hierarchy3"/>
    <dgm:cxn modelId="{BE65293F-F552-43CB-B56B-D168E1E323A7}" type="presOf" srcId="{5676342B-6B62-46A0-9A61-3BA1EE4783BD}" destId="{9061D599-78F7-4D29-8A01-B3AE6E8B12CD}" srcOrd="0" destOrd="0" presId="urn:microsoft.com/office/officeart/2005/8/layout/hierarchy3"/>
    <dgm:cxn modelId="{3B32A25D-957E-40FA-9F44-0226756FDFA8}" type="presOf" srcId="{74CC0DD0-B454-4E0F-90A0-2EFB719C9E41}" destId="{E06216CA-9B3E-44D7-9227-BBA0A54E48A7}" srcOrd="0" destOrd="0" presId="urn:microsoft.com/office/officeart/2005/8/layout/hierarchy3"/>
    <dgm:cxn modelId="{3E637B41-8B27-45A7-AC96-DA04E0F49DCB}" srcId="{D2DB0B28-B536-4F93-AB44-BBA06266640F}" destId="{00A09B7D-6B43-4A84-A5B2-6C480B915F35}" srcOrd="2" destOrd="0" parTransId="{A7E3559A-8108-48BF-92C0-F22516274A4B}" sibTransId="{4AA0C5EC-71DA-438E-A4B2-065E3F39A2AC}"/>
    <dgm:cxn modelId="{F46EB242-4653-44CB-B5B8-7C5A12C5AC22}" srcId="{D2DB0B28-B536-4F93-AB44-BBA06266640F}" destId="{D02FA32D-8E12-4759-928F-3046CDD27D4D}" srcOrd="1" destOrd="0" parTransId="{F547E12A-11AC-4D05-A731-C5993EE48B31}" sibTransId="{C4830FB0-CDD4-48D0-BEA4-59800EFB660D}"/>
    <dgm:cxn modelId="{A5216144-3565-488C-9FFE-F61035C4FAC6}" srcId="{893D1087-3BEA-4204-8A02-5C92A00CBB60}" destId="{0A8B2DC8-BBD2-4456-8683-B59D39E12593}" srcOrd="0" destOrd="0" parTransId="{74CC0DD0-B454-4E0F-90A0-2EFB719C9E41}" sibTransId="{89D152D5-6C48-47E1-A88E-6438EEC7B0FE}"/>
    <dgm:cxn modelId="{A63FD744-A221-40E6-95E4-CB9EA37F97A5}" srcId="{893D1087-3BEA-4204-8A02-5C92A00CBB60}" destId="{DFB52D96-8C69-44B9-BC32-2BE8CCC9A1AF}" srcOrd="1" destOrd="0" parTransId="{0BF2F933-B17D-48E8-96ED-BC0B14E5EEBC}" sibTransId="{73841ACB-24E5-41FC-B1D2-1CECFB1F6EFD}"/>
    <dgm:cxn modelId="{7A555E6B-DAEC-4AF2-807A-0A7BA822D3C4}" type="presOf" srcId="{A7E3559A-8108-48BF-92C0-F22516274A4B}" destId="{FB55DA8A-B419-438D-A0C5-9FD8BCE4E591}" srcOrd="0" destOrd="0" presId="urn:microsoft.com/office/officeart/2005/8/layout/hierarchy3"/>
    <dgm:cxn modelId="{BB01C54D-B7BE-4AC7-BC6D-79BD2A8723E8}" srcId="{893D1087-3BEA-4204-8A02-5C92A00CBB60}" destId="{2B6D3467-DDE8-4856-B8A5-677C48088981}" srcOrd="3" destOrd="0" parTransId="{5676342B-6B62-46A0-9A61-3BA1EE4783BD}" sibTransId="{F4DCFCFA-EC6E-464E-A684-8E510120274C}"/>
    <dgm:cxn modelId="{82541D7A-1B3C-4ED6-A0A7-2A284E63CE16}" type="presOf" srcId="{0A8B2DC8-BBD2-4456-8683-B59D39E12593}" destId="{C52C73B2-9536-4272-B706-9CA81F26B0F2}" srcOrd="0" destOrd="0" presId="urn:microsoft.com/office/officeart/2005/8/layout/hierarchy3"/>
    <dgm:cxn modelId="{BB5CD18B-9A85-4672-B459-DEA047780703}" srcId="{EA554804-D945-4814-B27F-ED8B5494493D}" destId="{D2DB0B28-B536-4F93-AB44-BBA06266640F}" srcOrd="1" destOrd="0" parTransId="{01FD6681-4211-4CA1-9A8C-E052A3272056}" sibTransId="{B3508D5E-E0AE-4394-B517-1F6F128BFAD2}"/>
    <dgm:cxn modelId="{C32B4098-B8F9-4383-A510-2D3DD52AD833}" type="presOf" srcId="{C20B565E-8F92-4B7D-AF3F-1DD38639B90E}" destId="{2765735D-C66F-4FEC-BC23-D7423913117F}" srcOrd="0" destOrd="0" presId="urn:microsoft.com/office/officeart/2005/8/layout/hierarchy3"/>
    <dgm:cxn modelId="{7F3F2A99-49C1-41E2-85FF-C2BBD478627B}" type="presOf" srcId="{EA554804-D945-4814-B27F-ED8B5494493D}" destId="{1052CFD5-3AE8-4058-9C6E-E7EDD7909348}" srcOrd="0" destOrd="0" presId="urn:microsoft.com/office/officeart/2005/8/layout/hierarchy3"/>
    <dgm:cxn modelId="{6FE9C09A-5F18-452C-BFC4-1CE2601FE83D}" type="presOf" srcId="{D0F42669-1392-4D22-8818-8474A6C11329}" destId="{822F5761-613A-4C1C-A208-780C0068FBBA}" srcOrd="0" destOrd="0" presId="urn:microsoft.com/office/officeart/2005/8/layout/hierarchy3"/>
    <dgm:cxn modelId="{1DE02BA4-5834-412C-91D5-8991F9F9DA01}" type="presOf" srcId="{F4771A4F-59B5-456A-B936-5D3A5F06445A}" destId="{4DAE6972-A905-424F-8141-8CB8DF08591A}" srcOrd="0" destOrd="0" presId="urn:microsoft.com/office/officeart/2005/8/layout/hierarchy3"/>
    <dgm:cxn modelId="{E33FB1A9-ED36-4348-B5AE-74D7C0EC204D}" type="presOf" srcId="{C868E398-5EC1-4D10-8589-EA95A47F80F6}" destId="{B3C0B0AE-2FFE-4C51-A8AF-3ED424B233C6}" srcOrd="0" destOrd="0" presId="urn:microsoft.com/office/officeart/2005/8/layout/hierarchy3"/>
    <dgm:cxn modelId="{C79C5CC1-CEC3-4A27-8938-A6AFCA5247F3}" type="presOf" srcId="{F547E12A-11AC-4D05-A731-C5993EE48B31}" destId="{5599A968-E2CF-446D-97C4-6B62EE9073F2}" srcOrd="0" destOrd="0" presId="urn:microsoft.com/office/officeart/2005/8/layout/hierarchy3"/>
    <dgm:cxn modelId="{C8F368C1-E980-471E-AB59-9423A595A45F}" type="presOf" srcId="{D2DB0B28-B536-4F93-AB44-BBA06266640F}" destId="{E9B3BC6C-442D-4895-8AB9-E0295CBF006D}" srcOrd="1" destOrd="0" presId="urn:microsoft.com/office/officeart/2005/8/layout/hierarchy3"/>
    <dgm:cxn modelId="{586B6ECB-A79B-445A-A62E-0CB0E48353E9}" type="presOf" srcId="{F4225E86-70ED-4D2E-947E-74943893B121}" destId="{D603213B-5645-4993-A7B4-3672EE72083E}" srcOrd="0" destOrd="0" presId="urn:microsoft.com/office/officeart/2005/8/layout/hierarchy3"/>
    <dgm:cxn modelId="{DDCAB2D2-2A8C-4F6C-BD63-6D9B4F4F1079}" srcId="{EA554804-D945-4814-B27F-ED8B5494493D}" destId="{893D1087-3BEA-4204-8A02-5C92A00CBB60}" srcOrd="0" destOrd="0" parTransId="{9D478B1A-3DE5-4C30-8CB5-7882128301B4}" sibTransId="{3BE26426-FC20-47E0-8F01-28A14685A010}"/>
    <dgm:cxn modelId="{83E045D4-1A02-48A9-AAEF-53D5A683D0AE}" type="presOf" srcId="{00A09B7D-6B43-4A84-A5B2-6C480B915F35}" destId="{B8BBD2B2-DA67-4C56-9991-4D30BD745542}" srcOrd="0" destOrd="0" presId="urn:microsoft.com/office/officeart/2005/8/layout/hierarchy3"/>
    <dgm:cxn modelId="{8FF13FE0-3275-4158-A23D-4DBE8BDB5EB2}" type="presOf" srcId="{893D1087-3BEA-4204-8A02-5C92A00CBB60}" destId="{48CFAFF3-33AA-4BF3-8A33-6B8B2A7D22A7}" srcOrd="0" destOrd="0" presId="urn:microsoft.com/office/officeart/2005/8/layout/hierarchy3"/>
    <dgm:cxn modelId="{1B8CABEA-09B4-43EB-A0C6-8994BAC92072}" srcId="{893D1087-3BEA-4204-8A02-5C92A00CBB60}" destId="{C20B565E-8F92-4B7D-AF3F-1DD38639B90E}" srcOrd="2" destOrd="0" parTransId="{F4225E86-70ED-4D2E-947E-74943893B121}" sibTransId="{74EFC9BA-F6CB-46B7-94EB-187D1DB040E5}"/>
    <dgm:cxn modelId="{7F1E68EB-5689-4BF3-8E96-DD25FED60004}" type="presOf" srcId="{D2DB0B28-B536-4F93-AB44-BBA06266640F}" destId="{8ADBA234-5102-4C4B-A65C-0D9F47DEE19B}" srcOrd="0" destOrd="0" presId="urn:microsoft.com/office/officeart/2005/8/layout/hierarchy3"/>
    <dgm:cxn modelId="{02FFB3F9-0039-4534-91B7-EE9B97929E2B}" srcId="{893D1087-3BEA-4204-8A02-5C92A00CBB60}" destId="{F4771A4F-59B5-456A-B936-5D3A5F06445A}" srcOrd="4" destOrd="0" parTransId="{4199C99B-AB76-4267-B8B9-EDD74622A109}" sibTransId="{2EB809D1-F701-4511-A925-EB1E9A287682}"/>
    <dgm:cxn modelId="{B09E97FF-2619-4731-8D43-593F941BE4B0}" type="presOf" srcId="{DFB52D96-8C69-44B9-BC32-2BE8CCC9A1AF}" destId="{2B46DC03-EEAD-433C-9494-2DDED3F9E6F9}" srcOrd="0" destOrd="0" presId="urn:microsoft.com/office/officeart/2005/8/layout/hierarchy3"/>
    <dgm:cxn modelId="{0D5A5563-EFCB-472D-9622-370F30FEF07F}" type="presParOf" srcId="{1052CFD5-3AE8-4058-9C6E-E7EDD7909348}" destId="{42909D09-96F1-4CEA-8A86-4DCC464DE5DB}" srcOrd="0" destOrd="0" presId="urn:microsoft.com/office/officeart/2005/8/layout/hierarchy3"/>
    <dgm:cxn modelId="{721489FA-2C90-4E17-B49A-15879D90EFAC}" type="presParOf" srcId="{42909D09-96F1-4CEA-8A86-4DCC464DE5DB}" destId="{2FD9790B-E622-45C7-A988-2B6EEE165496}" srcOrd="0" destOrd="0" presId="urn:microsoft.com/office/officeart/2005/8/layout/hierarchy3"/>
    <dgm:cxn modelId="{335FD6C7-E596-4AD4-97EC-C8D37370E7E9}" type="presParOf" srcId="{2FD9790B-E622-45C7-A988-2B6EEE165496}" destId="{48CFAFF3-33AA-4BF3-8A33-6B8B2A7D22A7}" srcOrd="0" destOrd="0" presId="urn:microsoft.com/office/officeart/2005/8/layout/hierarchy3"/>
    <dgm:cxn modelId="{413581F7-1C5B-4C7A-A74D-77AD6ED898FB}" type="presParOf" srcId="{2FD9790B-E622-45C7-A988-2B6EEE165496}" destId="{426423CB-C2C3-423E-8116-3F1BB18CE8C5}" srcOrd="1" destOrd="0" presId="urn:microsoft.com/office/officeart/2005/8/layout/hierarchy3"/>
    <dgm:cxn modelId="{D75C36D5-D128-47CB-BCB1-21C0B4E639D0}" type="presParOf" srcId="{42909D09-96F1-4CEA-8A86-4DCC464DE5DB}" destId="{149C24FE-B8F4-41FE-87AE-1B28F4C08216}" srcOrd="1" destOrd="0" presId="urn:microsoft.com/office/officeart/2005/8/layout/hierarchy3"/>
    <dgm:cxn modelId="{7E60A2B1-EA8E-465A-9490-604F9090C5F9}" type="presParOf" srcId="{149C24FE-B8F4-41FE-87AE-1B28F4C08216}" destId="{E06216CA-9B3E-44D7-9227-BBA0A54E48A7}" srcOrd="0" destOrd="0" presId="urn:microsoft.com/office/officeart/2005/8/layout/hierarchy3"/>
    <dgm:cxn modelId="{B96D68A2-BA81-44A7-B51D-9F68D572526F}" type="presParOf" srcId="{149C24FE-B8F4-41FE-87AE-1B28F4C08216}" destId="{C52C73B2-9536-4272-B706-9CA81F26B0F2}" srcOrd="1" destOrd="0" presId="urn:microsoft.com/office/officeart/2005/8/layout/hierarchy3"/>
    <dgm:cxn modelId="{C9ECDA7A-76A2-4428-A388-DB084C4E93FC}" type="presParOf" srcId="{149C24FE-B8F4-41FE-87AE-1B28F4C08216}" destId="{3D8A8BA3-D175-49CD-B74A-7A3456625195}" srcOrd="2" destOrd="0" presId="urn:microsoft.com/office/officeart/2005/8/layout/hierarchy3"/>
    <dgm:cxn modelId="{0CFCD2CC-501E-41D2-A006-5DE236B1FCDC}" type="presParOf" srcId="{149C24FE-B8F4-41FE-87AE-1B28F4C08216}" destId="{2B46DC03-EEAD-433C-9494-2DDED3F9E6F9}" srcOrd="3" destOrd="0" presId="urn:microsoft.com/office/officeart/2005/8/layout/hierarchy3"/>
    <dgm:cxn modelId="{8BDBCC2B-7C96-4A12-94D6-1AF06AFFA71C}" type="presParOf" srcId="{149C24FE-B8F4-41FE-87AE-1B28F4C08216}" destId="{D603213B-5645-4993-A7B4-3672EE72083E}" srcOrd="4" destOrd="0" presId="urn:microsoft.com/office/officeart/2005/8/layout/hierarchy3"/>
    <dgm:cxn modelId="{53CD87F4-8493-495B-A173-083A36C23B64}" type="presParOf" srcId="{149C24FE-B8F4-41FE-87AE-1B28F4C08216}" destId="{2765735D-C66F-4FEC-BC23-D7423913117F}" srcOrd="5" destOrd="0" presId="urn:microsoft.com/office/officeart/2005/8/layout/hierarchy3"/>
    <dgm:cxn modelId="{C4EDB676-C196-470F-AC8A-E643EA3F4D7E}" type="presParOf" srcId="{149C24FE-B8F4-41FE-87AE-1B28F4C08216}" destId="{9061D599-78F7-4D29-8A01-B3AE6E8B12CD}" srcOrd="6" destOrd="0" presId="urn:microsoft.com/office/officeart/2005/8/layout/hierarchy3"/>
    <dgm:cxn modelId="{6D38159D-CDCC-4896-8961-1E04C7457E52}" type="presParOf" srcId="{149C24FE-B8F4-41FE-87AE-1B28F4C08216}" destId="{0F42CABC-DD46-4DE2-8C89-6573D7D9E1F8}" srcOrd="7" destOrd="0" presId="urn:microsoft.com/office/officeart/2005/8/layout/hierarchy3"/>
    <dgm:cxn modelId="{0B221D08-C7F8-4846-90B0-98B7238EAE4D}" type="presParOf" srcId="{149C24FE-B8F4-41FE-87AE-1B28F4C08216}" destId="{2BF519C9-68B3-4CCE-A31C-BAD840AFC0BB}" srcOrd="8" destOrd="0" presId="urn:microsoft.com/office/officeart/2005/8/layout/hierarchy3"/>
    <dgm:cxn modelId="{CAD0E1E5-C601-4767-83C2-79EA502BB2EC}" type="presParOf" srcId="{149C24FE-B8F4-41FE-87AE-1B28F4C08216}" destId="{4DAE6972-A905-424F-8141-8CB8DF08591A}" srcOrd="9" destOrd="0" presId="urn:microsoft.com/office/officeart/2005/8/layout/hierarchy3"/>
    <dgm:cxn modelId="{71BC64F5-3648-4EC8-B3DB-F699BD630E71}" type="presParOf" srcId="{1052CFD5-3AE8-4058-9C6E-E7EDD7909348}" destId="{C694B749-5825-48FA-B9CB-AD0BC6C4BFDD}" srcOrd="1" destOrd="0" presId="urn:microsoft.com/office/officeart/2005/8/layout/hierarchy3"/>
    <dgm:cxn modelId="{0D95F86A-FA01-4697-B452-8B6CFCDB14FD}" type="presParOf" srcId="{C694B749-5825-48FA-B9CB-AD0BC6C4BFDD}" destId="{B6545349-2E97-4D6A-AA8D-9AC1C74A0AE2}" srcOrd="0" destOrd="0" presId="urn:microsoft.com/office/officeart/2005/8/layout/hierarchy3"/>
    <dgm:cxn modelId="{B4904644-1AD2-4710-BD5E-B99E390AD221}" type="presParOf" srcId="{B6545349-2E97-4D6A-AA8D-9AC1C74A0AE2}" destId="{8ADBA234-5102-4C4B-A65C-0D9F47DEE19B}" srcOrd="0" destOrd="0" presId="urn:microsoft.com/office/officeart/2005/8/layout/hierarchy3"/>
    <dgm:cxn modelId="{DFF866AA-A950-4C0F-A65C-13767B0DE9A3}" type="presParOf" srcId="{B6545349-2E97-4D6A-AA8D-9AC1C74A0AE2}" destId="{E9B3BC6C-442D-4895-8AB9-E0295CBF006D}" srcOrd="1" destOrd="0" presId="urn:microsoft.com/office/officeart/2005/8/layout/hierarchy3"/>
    <dgm:cxn modelId="{06BEEEB1-9DAE-45D6-88D9-782336C8381A}" type="presParOf" srcId="{C694B749-5825-48FA-B9CB-AD0BC6C4BFDD}" destId="{2242AA5E-4008-48F2-BBCA-4CDB76495D86}" srcOrd="1" destOrd="0" presId="urn:microsoft.com/office/officeart/2005/8/layout/hierarchy3"/>
    <dgm:cxn modelId="{CFD6BE0B-91BB-4687-8C9D-6FC91E6C2889}" type="presParOf" srcId="{2242AA5E-4008-48F2-BBCA-4CDB76495D86}" destId="{B3C0B0AE-2FFE-4C51-A8AF-3ED424B233C6}" srcOrd="0" destOrd="0" presId="urn:microsoft.com/office/officeart/2005/8/layout/hierarchy3"/>
    <dgm:cxn modelId="{D57C1AB9-D4F9-41EA-80E6-751A73504410}" type="presParOf" srcId="{2242AA5E-4008-48F2-BBCA-4CDB76495D86}" destId="{822F5761-613A-4C1C-A208-780C0068FBBA}" srcOrd="1" destOrd="0" presId="urn:microsoft.com/office/officeart/2005/8/layout/hierarchy3"/>
    <dgm:cxn modelId="{69CE5B45-3BD3-42C7-A97E-FDFD39F2DC01}" type="presParOf" srcId="{2242AA5E-4008-48F2-BBCA-4CDB76495D86}" destId="{5599A968-E2CF-446D-97C4-6B62EE9073F2}" srcOrd="2" destOrd="0" presId="urn:microsoft.com/office/officeart/2005/8/layout/hierarchy3"/>
    <dgm:cxn modelId="{E828F39D-CC66-440A-835F-C3F660F9BA34}" type="presParOf" srcId="{2242AA5E-4008-48F2-BBCA-4CDB76495D86}" destId="{4C40F53D-8AF6-4C4D-AF45-C2F9DF16C8AF}" srcOrd="3" destOrd="0" presId="urn:microsoft.com/office/officeart/2005/8/layout/hierarchy3"/>
    <dgm:cxn modelId="{D3A1269D-4CEE-44C6-9987-8451377C6082}" type="presParOf" srcId="{2242AA5E-4008-48F2-BBCA-4CDB76495D86}" destId="{FB55DA8A-B419-438D-A0C5-9FD8BCE4E591}" srcOrd="4" destOrd="0" presId="urn:microsoft.com/office/officeart/2005/8/layout/hierarchy3"/>
    <dgm:cxn modelId="{B1B51225-F41F-4B8B-86E0-BA74EC06747C}" type="presParOf" srcId="{2242AA5E-4008-48F2-BBCA-4CDB76495D86}" destId="{B8BBD2B2-DA67-4C56-9991-4D30BD745542}"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8C99F1F-00AA-487D-9699-94F9286B9055}"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IN"/>
        </a:p>
      </dgm:t>
    </dgm:pt>
    <dgm:pt modelId="{38AB350D-3047-4D7A-A36F-EB57ADD529A5}">
      <dgm:prSet phldrT="[Text]" phldr="0"/>
      <dgm:spPr/>
      <dgm:t>
        <a:bodyPr/>
        <a:lstStyle/>
        <a:p>
          <a:r>
            <a:rPr lang="en-IN" dirty="0"/>
            <a:t>Input from Magnetic Coils</a:t>
          </a:r>
        </a:p>
      </dgm:t>
    </dgm:pt>
    <dgm:pt modelId="{55ADF16D-FC2F-4DB2-994C-4B1F43E56265}" type="parTrans" cxnId="{8AFAA0C8-F413-411B-BBB4-1156934808F8}">
      <dgm:prSet/>
      <dgm:spPr/>
      <dgm:t>
        <a:bodyPr/>
        <a:lstStyle/>
        <a:p>
          <a:endParaRPr lang="en-IN"/>
        </a:p>
      </dgm:t>
    </dgm:pt>
    <dgm:pt modelId="{16C646C0-B9AC-4FDF-82BD-B2B5098E3E38}" type="sibTrans" cxnId="{8AFAA0C8-F413-411B-BBB4-1156934808F8}">
      <dgm:prSet/>
      <dgm:spPr/>
      <dgm:t>
        <a:bodyPr/>
        <a:lstStyle/>
        <a:p>
          <a:endParaRPr lang="en-IN"/>
        </a:p>
      </dgm:t>
    </dgm:pt>
    <dgm:pt modelId="{2A5C0967-8F96-4B0B-9BF5-7072600EB156}">
      <dgm:prSet phldrT="[Text]" phldr="0"/>
      <dgm:spPr/>
      <dgm:t>
        <a:bodyPr/>
        <a:lstStyle/>
        <a:p>
          <a:r>
            <a:rPr lang="en-IN" dirty="0"/>
            <a:t>Microcontroller</a:t>
          </a:r>
        </a:p>
      </dgm:t>
    </dgm:pt>
    <dgm:pt modelId="{8ADF4EC5-17BF-4689-BA95-280C46F43814}" type="parTrans" cxnId="{9AB131D3-5937-444D-852E-1C2E38CFBE23}">
      <dgm:prSet/>
      <dgm:spPr/>
      <dgm:t>
        <a:bodyPr/>
        <a:lstStyle/>
        <a:p>
          <a:endParaRPr lang="en-IN"/>
        </a:p>
      </dgm:t>
    </dgm:pt>
    <dgm:pt modelId="{134169C9-1D92-48F9-BEC5-1230AC11D2CC}" type="sibTrans" cxnId="{9AB131D3-5937-444D-852E-1C2E38CFBE23}">
      <dgm:prSet/>
      <dgm:spPr/>
      <dgm:t>
        <a:bodyPr/>
        <a:lstStyle/>
        <a:p>
          <a:endParaRPr lang="en-IN"/>
        </a:p>
      </dgm:t>
    </dgm:pt>
    <dgm:pt modelId="{D46B8681-D0E2-485E-B2D0-B9637EAA5CE6}">
      <dgm:prSet phldrT="[Text]"/>
      <dgm:spPr/>
      <dgm:t>
        <a:bodyPr/>
        <a:lstStyle/>
        <a:p>
          <a:r>
            <a:rPr lang="en-IN" dirty="0"/>
            <a:t>Patient</a:t>
          </a:r>
        </a:p>
        <a:p>
          <a:r>
            <a:rPr lang="en-IN" dirty="0"/>
            <a:t>(Motor Cortex)</a:t>
          </a:r>
        </a:p>
      </dgm:t>
    </dgm:pt>
    <dgm:pt modelId="{8F127255-941F-4DEC-9DAC-2D49FE3E2555}" type="parTrans" cxnId="{B4B4B1AF-6F74-43C0-97ED-182F15FFDF90}">
      <dgm:prSet/>
      <dgm:spPr/>
      <dgm:t>
        <a:bodyPr/>
        <a:lstStyle/>
        <a:p>
          <a:endParaRPr lang="en-IN"/>
        </a:p>
      </dgm:t>
    </dgm:pt>
    <dgm:pt modelId="{81301337-8E97-49B8-AC05-4D37B35C1537}" type="sibTrans" cxnId="{B4B4B1AF-6F74-43C0-97ED-182F15FFDF90}">
      <dgm:prSet/>
      <dgm:spPr/>
      <dgm:t>
        <a:bodyPr/>
        <a:lstStyle/>
        <a:p>
          <a:endParaRPr lang="en-IN"/>
        </a:p>
      </dgm:t>
    </dgm:pt>
    <dgm:pt modelId="{22640823-C310-4704-843C-0619F0973572}">
      <dgm:prSet phldrT="[Text]"/>
      <dgm:spPr/>
      <dgm:t>
        <a:bodyPr/>
        <a:lstStyle/>
        <a:p>
          <a:r>
            <a:rPr lang="en-IN"/>
            <a:t>EEG Data</a:t>
          </a:r>
          <a:endParaRPr lang="en-IN" dirty="0"/>
        </a:p>
      </dgm:t>
    </dgm:pt>
    <dgm:pt modelId="{45F0F899-EE18-449A-8593-34CB8DE3FCD8}" type="parTrans" cxnId="{516A1E8A-4357-4508-AB94-81D7D7934C81}">
      <dgm:prSet/>
      <dgm:spPr/>
      <dgm:t>
        <a:bodyPr/>
        <a:lstStyle/>
        <a:p>
          <a:endParaRPr lang="en-IN"/>
        </a:p>
      </dgm:t>
    </dgm:pt>
    <dgm:pt modelId="{501FE944-FCB6-4B4C-935D-FB1CE8E16939}" type="sibTrans" cxnId="{516A1E8A-4357-4508-AB94-81D7D7934C81}">
      <dgm:prSet/>
      <dgm:spPr/>
      <dgm:t>
        <a:bodyPr/>
        <a:lstStyle/>
        <a:p>
          <a:endParaRPr lang="en-IN"/>
        </a:p>
      </dgm:t>
    </dgm:pt>
    <dgm:pt modelId="{A882E5E0-7CF9-4211-A163-2BCA0F31CC3E}" type="pres">
      <dgm:prSet presAssocID="{88C99F1F-00AA-487D-9699-94F9286B9055}" presName="Name0" presStyleCnt="0">
        <dgm:presLayoutVars>
          <dgm:dir/>
          <dgm:resizeHandles val="exact"/>
        </dgm:presLayoutVars>
      </dgm:prSet>
      <dgm:spPr/>
    </dgm:pt>
    <dgm:pt modelId="{F8FF49A8-7746-496E-9DA3-97670C6CEF0B}" type="pres">
      <dgm:prSet presAssocID="{38AB350D-3047-4D7A-A36F-EB57ADD529A5}" presName="node" presStyleLbl="node1" presStyleIdx="0" presStyleCnt="4">
        <dgm:presLayoutVars>
          <dgm:bulletEnabled val="1"/>
        </dgm:presLayoutVars>
      </dgm:prSet>
      <dgm:spPr/>
    </dgm:pt>
    <dgm:pt modelId="{0C1E6B7B-ABBA-4CE2-BCE1-BA4D06FD98A1}" type="pres">
      <dgm:prSet presAssocID="{16C646C0-B9AC-4FDF-82BD-B2B5098E3E38}" presName="sibTrans" presStyleLbl="sibTrans2D1" presStyleIdx="0" presStyleCnt="3"/>
      <dgm:spPr/>
    </dgm:pt>
    <dgm:pt modelId="{CD7B1FC3-0FCC-4648-81AF-D88215E37B70}" type="pres">
      <dgm:prSet presAssocID="{16C646C0-B9AC-4FDF-82BD-B2B5098E3E38}" presName="connectorText" presStyleLbl="sibTrans2D1" presStyleIdx="0" presStyleCnt="3"/>
      <dgm:spPr/>
    </dgm:pt>
    <dgm:pt modelId="{0326B235-4469-43AA-A53F-6F1F0FF33598}" type="pres">
      <dgm:prSet presAssocID="{2A5C0967-8F96-4B0B-9BF5-7072600EB156}" presName="node" presStyleLbl="node1" presStyleIdx="1" presStyleCnt="4">
        <dgm:presLayoutVars>
          <dgm:bulletEnabled val="1"/>
        </dgm:presLayoutVars>
      </dgm:prSet>
      <dgm:spPr/>
    </dgm:pt>
    <dgm:pt modelId="{CA779662-550B-427D-9725-152E612F9CD7}" type="pres">
      <dgm:prSet presAssocID="{134169C9-1D92-48F9-BEC5-1230AC11D2CC}" presName="sibTrans" presStyleLbl="sibTrans2D1" presStyleIdx="1" presStyleCnt="3"/>
      <dgm:spPr/>
    </dgm:pt>
    <dgm:pt modelId="{BFE94575-A023-451C-9370-0D6E7200C27A}" type="pres">
      <dgm:prSet presAssocID="{134169C9-1D92-48F9-BEC5-1230AC11D2CC}" presName="connectorText" presStyleLbl="sibTrans2D1" presStyleIdx="1" presStyleCnt="3"/>
      <dgm:spPr/>
    </dgm:pt>
    <dgm:pt modelId="{776D6422-7160-433F-8834-289B31DA8DF7}" type="pres">
      <dgm:prSet presAssocID="{D46B8681-D0E2-485E-B2D0-B9637EAA5CE6}" presName="node" presStyleLbl="node1" presStyleIdx="2" presStyleCnt="4">
        <dgm:presLayoutVars>
          <dgm:bulletEnabled val="1"/>
        </dgm:presLayoutVars>
      </dgm:prSet>
      <dgm:spPr/>
    </dgm:pt>
    <dgm:pt modelId="{875C9985-7CD0-43A8-A50E-C0FD54B4A173}" type="pres">
      <dgm:prSet presAssocID="{81301337-8E97-49B8-AC05-4D37B35C1537}" presName="sibTrans" presStyleLbl="sibTrans2D1" presStyleIdx="2" presStyleCnt="3"/>
      <dgm:spPr/>
    </dgm:pt>
    <dgm:pt modelId="{C3451C88-6950-4E2B-87AB-8B79467ACCC8}" type="pres">
      <dgm:prSet presAssocID="{81301337-8E97-49B8-AC05-4D37B35C1537}" presName="connectorText" presStyleLbl="sibTrans2D1" presStyleIdx="2" presStyleCnt="3"/>
      <dgm:spPr/>
    </dgm:pt>
    <dgm:pt modelId="{810ABFFB-E427-45A5-9B72-2F451B82EA66}" type="pres">
      <dgm:prSet presAssocID="{22640823-C310-4704-843C-0619F0973572}" presName="node" presStyleLbl="node1" presStyleIdx="3" presStyleCnt="4">
        <dgm:presLayoutVars>
          <dgm:bulletEnabled val="1"/>
        </dgm:presLayoutVars>
      </dgm:prSet>
      <dgm:spPr/>
    </dgm:pt>
  </dgm:ptLst>
  <dgm:cxnLst>
    <dgm:cxn modelId="{4C14FF21-C4F5-4334-BE88-00883EBCAE84}" type="presOf" srcId="{D46B8681-D0E2-485E-B2D0-B9637EAA5CE6}" destId="{776D6422-7160-433F-8834-289B31DA8DF7}" srcOrd="0" destOrd="0" presId="urn:microsoft.com/office/officeart/2005/8/layout/process1"/>
    <dgm:cxn modelId="{F3B62322-51E2-46F3-9C0B-0CD5CF4A125D}" type="presOf" srcId="{88C99F1F-00AA-487D-9699-94F9286B9055}" destId="{A882E5E0-7CF9-4211-A163-2BCA0F31CC3E}" srcOrd="0" destOrd="0" presId="urn:microsoft.com/office/officeart/2005/8/layout/process1"/>
    <dgm:cxn modelId="{8C9BC12B-7FA2-40BA-91A1-FD0097EA82E1}" type="presOf" srcId="{81301337-8E97-49B8-AC05-4D37B35C1537}" destId="{875C9985-7CD0-43A8-A50E-C0FD54B4A173}" srcOrd="0" destOrd="0" presId="urn:microsoft.com/office/officeart/2005/8/layout/process1"/>
    <dgm:cxn modelId="{EE930C2D-37B4-4756-9D1A-1AFE011F78DC}" type="presOf" srcId="{81301337-8E97-49B8-AC05-4D37B35C1537}" destId="{C3451C88-6950-4E2B-87AB-8B79467ACCC8}" srcOrd="1" destOrd="0" presId="urn:microsoft.com/office/officeart/2005/8/layout/process1"/>
    <dgm:cxn modelId="{E235AB70-C7D2-4A79-82F3-54686486B832}" type="presOf" srcId="{16C646C0-B9AC-4FDF-82BD-B2B5098E3E38}" destId="{0C1E6B7B-ABBA-4CE2-BCE1-BA4D06FD98A1}" srcOrd="0" destOrd="0" presId="urn:microsoft.com/office/officeart/2005/8/layout/process1"/>
    <dgm:cxn modelId="{9C748E72-3CF0-47CD-A288-66F0A19E986C}" type="presOf" srcId="{38AB350D-3047-4D7A-A36F-EB57ADD529A5}" destId="{F8FF49A8-7746-496E-9DA3-97670C6CEF0B}" srcOrd="0" destOrd="0" presId="urn:microsoft.com/office/officeart/2005/8/layout/process1"/>
    <dgm:cxn modelId="{F33AF17D-DA91-4602-9D4A-873320FE36EE}" type="presOf" srcId="{134169C9-1D92-48F9-BEC5-1230AC11D2CC}" destId="{CA779662-550B-427D-9725-152E612F9CD7}" srcOrd="0" destOrd="0" presId="urn:microsoft.com/office/officeart/2005/8/layout/process1"/>
    <dgm:cxn modelId="{516A1E8A-4357-4508-AB94-81D7D7934C81}" srcId="{88C99F1F-00AA-487D-9699-94F9286B9055}" destId="{22640823-C310-4704-843C-0619F0973572}" srcOrd="3" destOrd="0" parTransId="{45F0F899-EE18-449A-8593-34CB8DE3FCD8}" sibTransId="{501FE944-FCB6-4B4C-935D-FB1CE8E16939}"/>
    <dgm:cxn modelId="{709F9D9A-1091-44A5-A891-D7233599A47D}" type="presOf" srcId="{16C646C0-B9AC-4FDF-82BD-B2B5098E3E38}" destId="{CD7B1FC3-0FCC-4648-81AF-D88215E37B70}" srcOrd="1" destOrd="0" presId="urn:microsoft.com/office/officeart/2005/8/layout/process1"/>
    <dgm:cxn modelId="{ECCE57A7-1DF1-4213-85FA-E090103A07B5}" type="presOf" srcId="{2A5C0967-8F96-4B0B-9BF5-7072600EB156}" destId="{0326B235-4469-43AA-A53F-6F1F0FF33598}" srcOrd="0" destOrd="0" presId="urn:microsoft.com/office/officeart/2005/8/layout/process1"/>
    <dgm:cxn modelId="{B4B4B1AF-6F74-43C0-97ED-182F15FFDF90}" srcId="{88C99F1F-00AA-487D-9699-94F9286B9055}" destId="{D46B8681-D0E2-485E-B2D0-B9637EAA5CE6}" srcOrd="2" destOrd="0" parTransId="{8F127255-941F-4DEC-9DAC-2D49FE3E2555}" sibTransId="{81301337-8E97-49B8-AC05-4D37B35C1537}"/>
    <dgm:cxn modelId="{EC22A9BF-BB52-4FA2-89B2-5EA79C6EBC78}" type="presOf" srcId="{22640823-C310-4704-843C-0619F0973572}" destId="{810ABFFB-E427-45A5-9B72-2F451B82EA66}" srcOrd="0" destOrd="0" presId="urn:microsoft.com/office/officeart/2005/8/layout/process1"/>
    <dgm:cxn modelId="{8AFAA0C8-F413-411B-BBB4-1156934808F8}" srcId="{88C99F1F-00AA-487D-9699-94F9286B9055}" destId="{38AB350D-3047-4D7A-A36F-EB57ADD529A5}" srcOrd="0" destOrd="0" parTransId="{55ADF16D-FC2F-4DB2-994C-4B1F43E56265}" sibTransId="{16C646C0-B9AC-4FDF-82BD-B2B5098E3E38}"/>
    <dgm:cxn modelId="{198D42CB-0915-47E0-9EF4-FC8CC0B9086D}" type="presOf" srcId="{134169C9-1D92-48F9-BEC5-1230AC11D2CC}" destId="{BFE94575-A023-451C-9370-0D6E7200C27A}" srcOrd="1" destOrd="0" presId="urn:microsoft.com/office/officeart/2005/8/layout/process1"/>
    <dgm:cxn modelId="{9AB131D3-5937-444D-852E-1C2E38CFBE23}" srcId="{88C99F1F-00AA-487D-9699-94F9286B9055}" destId="{2A5C0967-8F96-4B0B-9BF5-7072600EB156}" srcOrd="1" destOrd="0" parTransId="{8ADF4EC5-17BF-4689-BA95-280C46F43814}" sibTransId="{134169C9-1D92-48F9-BEC5-1230AC11D2CC}"/>
    <dgm:cxn modelId="{3F322018-3686-4309-8E5D-14B0587E7474}" type="presParOf" srcId="{A882E5E0-7CF9-4211-A163-2BCA0F31CC3E}" destId="{F8FF49A8-7746-496E-9DA3-97670C6CEF0B}" srcOrd="0" destOrd="0" presId="urn:microsoft.com/office/officeart/2005/8/layout/process1"/>
    <dgm:cxn modelId="{FE2F7E8D-6F77-4B49-8A81-8567A392C638}" type="presParOf" srcId="{A882E5E0-7CF9-4211-A163-2BCA0F31CC3E}" destId="{0C1E6B7B-ABBA-4CE2-BCE1-BA4D06FD98A1}" srcOrd="1" destOrd="0" presId="urn:microsoft.com/office/officeart/2005/8/layout/process1"/>
    <dgm:cxn modelId="{10E5B1CD-1D6D-4382-BC5D-9623226D011F}" type="presParOf" srcId="{0C1E6B7B-ABBA-4CE2-BCE1-BA4D06FD98A1}" destId="{CD7B1FC3-0FCC-4648-81AF-D88215E37B70}" srcOrd="0" destOrd="0" presId="urn:microsoft.com/office/officeart/2005/8/layout/process1"/>
    <dgm:cxn modelId="{DDCD207D-B20F-46AF-BFA5-6D12565D80D2}" type="presParOf" srcId="{A882E5E0-7CF9-4211-A163-2BCA0F31CC3E}" destId="{0326B235-4469-43AA-A53F-6F1F0FF33598}" srcOrd="2" destOrd="0" presId="urn:microsoft.com/office/officeart/2005/8/layout/process1"/>
    <dgm:cxn modelId="{C97C0EDC-EBE9-4030-8B06-895AC56A5C55}" type="presParOf" srcId="{A882E5E0-7CF9-4211-A163-2BCA0F31CC3E}" destId="{CA779662-550B-427D-9725-152E612F9CD7}" srcOrd="3" destOrd="0" presId="urn:microsoft.com/office/officeart/2005/8/layout/process1"/>
    <dgm:cxn modelId="{2E9C0EB9-854F-4BBB-A742-132D5AEBED9E}" type="presParOf" srcId="{CA779662-550B-427D-9725-152E612F9CD7}" destId="{BFE94575-A023-451C-9370-0D6E7200C27A}" srcOrd="0" destOrd="0" presId="urn:microsoft.com/office/officeart/2005/8/layout/process1"/>
    <dgm:cxn modelId="{E925E798-C511-4EBA-BABE-F66557BA0AB0}" type="presParOf" srcId="{A882E5E0-7CF9-4211-A163-2BCA0F31CC3E}" destId="{776D6422-7160-433F-8834-289B31DA8DF7}" srcOrd="4" destOrd="0" presId="urn:microsoft.com/office/officeart/2005/8/layout/process1"/>
    <dgm:cxn modelId="{AA95BCED-B257-4A1E-A682-1AB6491E797F}" type="presParOf" srcId="{A882E5E0-7CF9-4211-A163-2BCA0F31CC3E}" destId="{875C9985-7CD0-43A8-A50E-C0FD54B4A173}" srcOrd="5" destOrd="0" presId="urn:microsoft.com/office/officeart/2005/8/layout/process1"/>
    <dgm:cxn modelId="{0894754A-8D30-452B-9147-B9E3808B7B03}" type="presParOf" srcId="{875C9985-7CD0-43A8-A50E-C0FD54B4A173}" destId="{C3451C88-6950-4E2B-87AB-8B79467ACCC8}" srcOrd="0" destOrd="0" presId="urn:microsoft.com/office/officeart/2005/8/layout/process1"/>
    <dgm:cxn modelId="{4910C4BD-3817-43C2-815B-C0C28BF6F316}" type="presParOf" srcId="{A882E5E0-7CF9-4211-A163-2BCA0F31CC3E}" destId="{810ABFFB-E427-45A5-9B72-2F451B82EA66}"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9EA5F20-886F-45AA-AC11-AC2F31846DE5}"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IN"/>
        </a:p>
      </dgm:t>
    </dgm:pt>
    <dgm:pt modelId="{6903C210-ED2E-4C1C-A798-3584481C8ECD}">
      <dgm:prSet phldrT="[Text]" phldr="0"/>
      <dgm:spPr/>
      <dgm:t>
        <a:bodyPr/>
        <a:lstStyle/>
        <a:p>
          <a:r>
            <a:rPr lang="en-IN" dirty="0"/>
            <a:t>Stage 1 Trial</a:t>
          </a:r>
        </a:p>
      </dgm:t>
    </dgm:pt>
    <dgm:pt modelId="{CA163753-AFA3-4876-A1FA-500C58B48A8A}" type="parTrans" cxnId="{7296423E-A9D1-4CA1-B82B-C4D2CAE73A74}">
      <dgm:prSet/>
      <dgm:spPr/>
      <dgm:t>
        <a:bodyPr/>
        <a:lstStyle/>
        <a:p>
          <a:endParaRPr lang="en-IN"/>
        </a:p>
      </dgm:t>
    </dgm:pt>
    <dgm:pt modelId="{F4016FC5-B253-4F3A-8C2C-6B5A6C1B63F9}" type="sibTrans" cxnId="{7296423E-A9D1-4CA1-B82B-C4D2CAE73A74}">
      <dgm:prSet/>
      <dgm:spPr/>
      <dgm:t>
        <a:bodyPr/>
        <a:lstStyle/>
        <a:p>
          <a:endParaRPr lang="en-IN"/>
        </a:p>
      </dgm:t>
    </dgm:pt>
    <dgm:pt modelId="{E4CA7C23-3802-4BAF-9273-C78344A57DD7}">
      <dgm:prSet phldrT="[Text]" phldr="0"/>
      <dgm:spPr/>
      <dgm:t>
        <a:bodyPr/>
        <a:lstStyle/>
        <a:p>
          <a:r>
            <a:rPr lang="en-IN" dirty="0"/>
            <a:t>Stage 2 Trial</a:t>
          </a:r>
        </a:p>
      </dgm:t>
    </dgm:pt>
    <dgm:pt modelId="{49E77EE2-16F7-4BA8-B4EB-7C9E67233A11}" type="parTrans" cxnId="{C1BAF6EA-7D87-4203-84C2-4E69BCCFF427}">
      <dgm:prSet/>
      <dgm:spPr/>
      <dgm:t>
        <a:bodyPr/>
        <a:lstStyle/>
        <a:p>
          <a:endParaRPr lang="en-IN"/>
        </a:p>
      </dgm:t>
    </dgm:pt>
    <dgm:pt modelId="{AC9CE5B3-80A5-4E01-B9CA-97FDF7EA3385}" type="sibTrans" cxnId="{C1BAF6EA-7D87-4203-84C2-4E69BCCFF427}">
      <dgm:prSet/>
      <dgm:spPr/>
      <dgm:t>
        <a:bodyPr/>
        <a:lstStyle/>
        <a:p>
          <a:endParaRPr lang="en-IN"/>
        </a:p>
      </dgm:t>
    </dgm:pt>
    <dgm:pt modelId="{37959A0D-956E-4E1E-961E-2CD0EE73A1FB}">
      <dgm:prSet phldrT="[Text]" phldr="0"/>
      <dgm:spPr/>
      <dgm:t>
        <a:bodyPr/>
        <a:lstStyle/>
        <a:p>
          <a:r>
            <a:rPr lang="en-IN" dirty="0"/>
            <a:t>Phase 3 Trial</a:t>
          </a:r>
        </a:p>
      </dgm:t>
    </dgm:pt>
    <dgm:pt modelId="{29F704DD-0893-4332-9285-F81435245DD1}" type="parTrans" cxnId="{283A917D-EF19-431D-B55A-050D5FB63AEF}">
      <dgm:prSet/>
      <dgm:spPr/>
      <dgm:t>
        <a:bodyPr/>
        <a:lstStyle/>
        <a:p>
          <a:endParaRPr lang="en-IN"/>
        </a:p>
      </dgm:t>
    </dgm:pt>
    <dgm:pt modelId="{C9B21805-C7AB-4957-A8F6-58C328065E98}" type="sibTrans" cxnId="{283A917D-EF19-431D-B55A-050D5FB63AEF}">
      <dgm:prSet/>
      <dgm:spPr/>
      <dgm:t>
        <a:bodyPr/>
        <a:lstStyle/>
        <a:p>
          <a:endParaRPr lang="en-IN"/>
        </a:p>
      </dgm:t>
    </dgm:pt>
    <dgm:pt modelId="{A610FEB2-D76C-42F2-AF99-512AEDE35164}">
      <dgm:prSet phldrT="[Text]" phldr="0"/>
      <dgm:spPr/>
      <dgm:t>
        <a:bodyPr/>
        <a:lstStyle/>
        <a:p>
          <a:r>
            <a:rPr lang="en-IN" dirty="0"/>
            <a:t>FDA De Novo Class II Clearance</a:t>
          </a:r>
        </a:p>
      </dgm:t>
    </dgm:pt>
    <dgm:pt modelId="{E08A51CC-562C-4ADF-8E1D-2E605FDDC551}" type="parTrans" cxnId="{3425041F-722A-4F38-9300-73B407BD7F6A}">
      <dgm:prSet/>
      <dgm:spPr/>
      <dgm:t>
        <a:bodyPr/>
        <a:lstStyle/>
        <a:p>
          <a:endParaRPr lang="en-IN"/>
        </a:p>
      </dgm:t>
    </dgm:pt>
    <dgm:pt modelId="{97B60766-CA9D-4CA9-86ED-D5634E367408}" type="sibTrans" cxnId="{3425041F-722A-4F38-9300-73B407BD7F6A}">
      <dgm:prSet/>
      <dgm:spPr/>
      <dgm:t>
        <a:bodyPr/>
        <a:lstStyle/>
        <a:p>
          <a:endParaRPr lang="en-IN"/>
        </a:p>
      </dgm:t>
    </dgm:pt>
    <dgm:pt modelId="{95457A95-EF22-4435-B931-A703E922D5BC}" type="pres">
      <dgm:prSet presAssocID="{69EA5F20-886F-45AA-AC11-AC2F31846DE5}" presName="Name0" presStyleCnt="0">
        <dgm:presLayoutVars>
          <dgm:dir/>
          <dgm:resizeHandles val="exact"/>
        </dgm:presLayoutVars>
      </dgm:prSet>
      <dgm:spPr/>
    </dgm:pt>
    <dgm:pt modelId="{1EE53680-3F0F-4019-B3E5-846F94F26990}" type="pres">
      <dgm:prSet presAssocID="{6903C210-ED2E-4C1C-A798-3584481C8ECD}" presName="node" presStyleLbl="node1" presStyleIdx="0" presStyleCnt="4">
        <dgm:presLayoutVars>
          <dgm:bulletEnabled val="1"/>
        </dgm:presLayoutVars>
      </dgm:prSet>
      <dgm:spPr/>
    </dgm:pt>
    <dgm:pt modelId="{D81D65C3-79E5-4048-A34F-E93BAD047881}" type="pres">
      <dgm:prSet presAssocID="{F4016FC5-B253-4F3A-8C2C-6B5A6C1B63F9}" presName="sibTrans" presStyleLbl="sibTrans2D1" presStyleIdx="0" presStyleCnt="3"/>
      <dgm:spPr/>
    </dgm:pt>
    <dgm:pt modelId="{3D303831-BEC0-4519-A92C-C23687E71BC8}" type="pres">
      <dgm:prSet presAssocID="{F4016FC5-B253-4F3A-8C2C-6B5A6C1B63F9}" presName="connectorText" presStyleLbl="sibTrans2D1" presStyleIdx="0" presStyleCnt="3"/>
      <dgm:spPr/>
    </dgm:pt>
    <dgm:pt modelId="{30211B29-EFBD-42EB-BB02-E719A03886C4}" type="pres">
      <dgm:prSet presAssocID="{E4CA7C23-3802-4BAF-9273-C78344A57DD7}" presName="node" presStyleLbl="node1" presStyleIdx="1" presStyleCnt="4">
        <dgm:presLayoutVars>
          <dgm:bulletEnabled val="1"/>
        </dgm:presLayoutVars>
      </dgm:prSet>
      <dgm:spPr/>
    </dgm:pt>
    <dgm:pt modelId="{BA297781-D6BF-4F9C-97C7-DCA6A3CAB38F}" type="pres">
      <dgm:prSet presAssocID="{AC9CE5B3-80A5-4E01-B9CA-97FDF7EA3385}" presName="sibTrans" presStyleLbl="sibTrans2D1" presStyleIdx="1" presStyleCnt="3"/>
      <dgm:spPr/>
    </dgm:pt>
    <dgm:pt modelId="{57CB8719-A4BC-4684-95DB-98D9570AFD30}" type="pres">
      <dgm:prSet presAssocID="{AC9CE5B3-80A5-4E01-B9CA-97FDF7EA3385}" presName="connectorText" presStyleLbl="sibTrans2D1" presStyleIdx="1" presStyleCnt="3"/>
      <dgm:spPr/>
    </dgm:pt>
    <dgm:pt modelId="{F22E343F-198B-45B3-98A0-B0DDF4B6E3D4}" type="pres">
      <dgm:prSet presAssocID="{37959A0D-956E-4E1E-961E-2CD0EE73A1FB}" presName="node" presStyleLbl="node1" presStyleIdx="2" presStyleCnt="4">
        <dgm:presLayoutVars>
          <dgm:bulletEnabled val="1"/>
        </dgm:presLayoutVars>
      </dgm:prSet>
      <dgm:spPr/>
    </dgm:pt>
    <dgm:pt modelId="{555961D5-A33E-4937-8616-C747842909C5}" type="pres">
      <dgm:prSet presAssocID="{C9B21805-C7AB-4957-A8F6-58C328065E98}" presName="sibTrans" presStyleLbl="sibTrans2D1" presStyleIdx="2" presStyleCnt="3"/>
      <dgm:spPr/>
    </dgm:pt>
    <dgm:pt modelId="{0282CC98-CEA8-4897-A872-D37ED6FE1553}" type="pres">
      <dgm:prSet presAssocID="{C9B21805-C7AB-4957-A8F6-58C328065E98}" presName="connectorText" presStyleLbl="sibTrans2D1" presStyleIdx="2" presStyleCnt="3"/>
      <dgm:spPr/>
    </dgm:pt>
    <dgm:pt modelId="{F92607A9-7563-4FE9-8DDC-ADFFC8642DE7}" type="pres">
      <dgm:prSet presAssocID="{A610FEB2-D76C-42F2-AF99-512AEDE35164}" presName="node" presStyleLbl="node1" presStyleIdx="3" presStyleCnt="4">
        <dgm:presLayoutVars>
          <dgm:bulletEnabled val="1"/>
        </dgm:presLayoutVars>
      </dgm:prSet>
      <dgm:spPr/>
    </dgm:pt>
  </dgm:ptLst>
  <dgm:cxnLst>
    <dgm:cxn modelId="{3425041F-722A-4F38-9300-73B407BD7F6A}" srcId="{69EA5F20-886F-45AA-AC11-AC2F31846DE5}" destId="{A610FEB2-D76C-42F2-AF99-512AEDE35164}" srcOrd="3" destOrd="0" parTransId="{E08A51CC-562C-4ADF-8E1D-2E605FDDC551}" sibTransId="{97B60766-CA9D-4CA9-86ED-D5634E367408}"/>
    <dgm:cxn modelId="{E68F7F20-80E2-44A2-B9B0-5CBB5A5FC683}" type="presOf" srcId="{AC9CE5B3-80A5-4E01-B9CA-97FDF7EA3385}" destId="{57CB8719-A4BC-4684-95DB-98D9570AFD30}" srcOrd="1" destOrd="0" presId="urn:microsoft.com/office/officeart/2005/8/layout/process1"/>
    <dgm:cxn modelId="{7296423E-A9D1-4CA1-B82B-C4D2CAE73A74}" srcId="{69EA5F20-886F-45AA-AC11-AC2F31846DE5}" destId="{6903C210-ED2E-4C1C-A798-3584481C8ECD}" srcOrd="0" destOrd="0" parTransId="{CA163753-AFA3-4876-A1FA-500C58B48A8A}" sibTransId="{F4016FC5-B253-4F3A-8C2C-6B5A6C1B63F9}"/>
    <dgm:cxn modelId="{B1325D60-1975-4BAB-AD93-BA01AD6E8178}" type="presOf" srcId="{C9B21805-C7AB-4957-A8F6-58C328065E98}" destId="{0282CC98-CEA8-4897-A872-D37ED6FE1553}" srcOrd="1" destOrd="0" presId="urn:microsoft.com/office/officeart/2005/8/layout/process1"/>
    <dgm:cxn modelId="{5E451C61-33F6-454E-8B94-FEEB29D436EF}" type="presOf" srcId="{A610FEB2-D76C-42F2-AF99-512AEDE35164}" destId="{F92607A9-7563-4FE9-8DDC-ADFFC8642DE7}" srcOrd="0" destOrd="0" presId="urn:microsoft.com/office/officeart/2005/8/layout/process1"/>
    <dgm:cxn modelId="{2F57A141-48C0-4EC1-A14F-7B39B6D53E3F}" type="presOf" srcId="{C9B21805-C7AB-4957-A8F6-58C328065E98}" destId="{555961D5-A33E-4937-8616-C747842909C5}" srcOrd="0" destOrd="0" presId="urn:microsoft.com/office/officeart/2005/8/layout/process1"/>
    <dgm:cxn modelId="{F0327675-9029-45C2-9BA9-266C1E3602D2}" type="presOf" srcId="{AC9CE5B3-80A5-4E01-B9CA-97FDF7EA3385}" destId="{BA297781-D6BF-4F9C-97C7-DCA6A3CAB38F}" srcOrd="0" destOrd="0" presId="urn:microsoft.com/office/officeart/2005/8/layout/process1"/>
    <dgm:cxn modelId="{283A917D-EF19-431D-B55A-050D5FB63AEF}" srcId="{69EA5F20-886F-45AA-AC11-AC2F31846DE5}" destId="{37959A0D-956E-4E1E-961E-2CD0EE73A1FB}" srcOrd="2" destOrd="0" parTransId="{29F704DD-0893-4332-9285-F81435245DD1}" sibTransId="{C9B21805-C7AB-4957-A8F6-58C328065E98}"/>
    <dgm:cxn modelId="{D07C58A2-C1D7-4761-B413-A99D86A1D053}" type="presOf" srcId="{37959A0D-956E-4E1E-961E-2CD0EE73A1FB}" destId="{F22E343F-198B-45B3-98A0-B0DDF4B6E3D4}" srcOrd="0" destOrd="0" presId="urn:microsoft.com/office/officeart/2005/8/layout/process1"/>
    <dgm:cxn modelId="{28891EAA-9747-4640-8F6D-C0DC0BE9BF1A}" type="presOf" srcId="{F4016FC5-B253-4F3A-8C2C-6B5A6C1B63F9}" destId="{D81D65C3-79E5-4048-A34F-E93BAD047881}" srcOrd="0" destOrd="0" presId="urn:microsoft.com/office/officeart/2005/8/layout/process1"/>
    <dgm:cxn modelId="{AA02BDDD-F065-4792-AF0C-DFA07B9760BE}" type="presOf" srcId="{69EA5F20-886F-45AA-AC11-AC2F31846DE5}" destId="{95457A95-EF22-4435-B931-A703E922D5BC}" srcOrd="0" destOrd="0" presId="urn:microsoft.com/office/officeart/2005/8/layout/process1"/>
    <dgm:cxn modelId="{C1BAF6EA-7D87-4203-84C2-4E69BCCFF427}" srcId="{69EA5F20-886F-45AA-AC11-AC2F31846DE5}" destId="{E4CA7C23-3802-4BAF-9273-C78344A57DD7}" srcOrd="1" destOrd="0" parTransId="{49E77EE2-16F7-4BA8-B4EB-7C9E67233A11}" sibTransId="{AC9CE5B3-80A5-4E01-B9CA-97FDF7EA3385}"/>
    <dgm:cxn modelId="{0286A3F4-5DE7-4605-BA6D-409F8BAE039B}" type="presOf" srcId="{F4016FC5-B253-4F3A-8C2C-6B5A6C1B63F9}" destId="{3D303831-BEC0-4519-A92C-C23687E71BC8}" srcOrd="1" destOrd="0" presId="urn:microsoft.com/office/officeart/2005/8/layout/process1"/>
    <dgm:cxn modelId="{529C31F7-CF00-4AF0-9FB7-2D9A77413F8A}" type="presOf" srcId="{E4CA7C23-3802-4BAF-9273-C78344A57DD7}" destId="{30211B29-EFBD-42EB-BB02-E719A03886C4}" srcOrd="0" destOrd="0" presId="urn:microsoft.com/office/officeart/2005/8/layout/process1"/>
    <dgm:cxn modelId="{FEDBC1FB-7277-4370-9CCD-6F88036A0990}" type="presOf" srcId="{6903C210-ED2E-4C1C-A798-3584481C8ECD}" destId="{1EE53680-3F0F-4019-B3E5-846F94F26990}" srcOrd="0" destOrd="0" presId="urn:microsoft.com/office/officeart/2005/8/layout/process1"/>
    <dgm:cxn modelId="{E08F3611-1370-4815-BFD8-7F6C04959E5A}" type="presParOf" srcId="{95457A95-EF22-4435-B931-A703E922D5BC}" destId="{1EE53680-3F0F-4019-B3E5-846F94F26990}" srcOrd="0" destOrd="0" presId="urn:microsoft.com/office/officeart/2005/8/layout/process1"/>
    <dgm:cxn modelId="{40014929-D82B-4211-82C0-74C858CC0589}" type="presParOf" srcId="{95457A95-EF22-4435-B931-A703E922D5BC}" destId="{D81D65C3-79E5-4048-A34F-E93BAD047881}" srcOrd="1" destOrd="0" presId="urn:microsoft.com/office/officeart/2005/8/layout/process1"/>
    <dgm:cxn modelId="{56DF666F-DA56-49E6-AC82-494A922B225E}" type="presParOf" srcId="{D81D65C3-79E5-4048-A34F-E93BAD047881}" destId="{3D303831-BEC0-4519-A92C-C23687E71BC8}" srcOrd="0" destOrd="0" presId="urn:microsoft.com/office/officeart/2005/8/layout/process1"/>
    <dgm:cxn modelId="{2FB50C19-27B4-4C78-ABD1-C1375072E85F}" type="presParOf" srcId="{95457A95-EF22-4435-B931-A703E922D5BC}" destId="{30211B29-EFBD-42EB-BB02-E719A03886C4}" srcOrd="2" destOrd="0" presId="urn:microsoft.com/office/officeart/2005/8/layout/process1"/>
    <dgm:cxn modelId="{D27B9509-7327-4266-B4B5-CDD297448662}" type="presParOf" srcId="{95457A95-EF22-4435-B931-A703E922D5BC}" destId="{BA297781-D6BF-4F9C-97C7-DCA6A3CAB38F}" srcOrd="3" destOrd="0" presId="urn:microsoft.com/office/officeart/2005/8/layout/process1"/>
    <dgm:cxn modelId="{13F50DFD-BD15-4827-96EF-299CF544424C}" type="presParOf" srcId="{BA297781-D6BF-4F9C-97C7-DCA6A3CAB38F}" destId="{57CB8719-A4BC-4684-95DB-98D9570AFD30}" srcOrd="0" destOrd="0" presId="urn:microsoft.com/office/officeart/2005/8/layout/process1"/>
    <dgm:cxn modelId="{99287DA7-1821-4153-A1FD-694C96D8C1E1}" type="presParOf" srcId="{95457A95-EF22-4435-B931-A703E922D5BC}" destId="{F22E343F-198B-45B3-98A0-B0DDF4B6E3D4}" srcOrd="4" destOrd="0" presId="urn:microsoft.com/office/officeart/2005/8/layout/process1"/>
    <dgm:cxn modelId="{8D5CBD58-0BED-4DE3-846C-E28221FD42D6}" type="presParOf" srcId="{95457A95-EF22-4435-B931-A703E922D5BC}" destId="{555961D5-A33E-4937-8616-C747842909C5}" srcOrd="5" destOrd="0" presId="urn:microsoft.com/office/officeart/2005/8/layout/process1"/>
    <dgm:cxn modelId="{E6EB839F-38D5-44CB-BCD3-932E12EFDCFD}" type="presParOf" srcId="{555961D5-A33E-4937-8616-C747842909C5}" destId="{0282CC98-CEA8-4897-A872-D37ED6FE1553}" srcOrd="0" destOrd="0" presId="urn:microsoft.com/office/officeart/2005/8/layout/process1"/>
    <dgm:cxn modelId="{1B15F120-92B6-4119-93D8-16C2251ADEFB}" type="presParOf" srcId="{95457A95-EF22-4435-B931-A703E922D5BC}" destId="{F92607A9-7563-4FE9-8DDC-ADFFC8642DE7}"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CFAFF3-33AA-4BF3-8A33-6B8B2A7D22A7}">
      <dsp:nvSpPr>
        <dsp:cNvPr id="0" name=""/>
        <dsp:cNvSpPr/>
      </dsp:nvSpPr>
      <dsp:spPr>
        <a:xfrm>
          <a:off x="490154" y="1262"/>
          <a:ext cx="1124269" cy="56213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IN" sz="1700" kern="1200" dirty="0"/>
            <a:t>Motor Symptoms</a:t>
          </a:r>
        </a:p>
      </dsp:txBody>
      <dsp:txXfrm>
        <a:off x="506618" y="17726"/>
        <a:ext cx="1091341" cy="529206"/>
      </dsp:txXfrm>
    </dsp:sp>
    <dsp:sp modelId="{E06216CA-9B3E-44D7-9227-BBA0A54E48A7}">
      <dsp:nvSpPr>
        <dsp:cNvPr id="0" name=""/>
        <dsp:cNvSpPr/>
      </dsp:nvSpPr>
      <dsp:spPr>
        <a:xfrm>
          <a:off x="602580" y="563397"/>
          <a:ext cx="112426" cy="421600"/>
        </a:xfrm>
        <a:custGeom>
          <a:avLst/>
          <a:gdLst/>
          <a:ahLst/>
          <a:cxnLst/>
          <a:rect l="0" t="0" r="0" b="0"/>
          <a:pathLst>
            <a:path>
              <a:moveTo>
                <a:pt x="0" y="0"/>
              </a:moveTo>
              <a:lnTo>
                <a:pt x="0" y="421600"/>
              </a:lnTo>
              <a:lnTo>
                <a:pt x="112426" y="42160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52C73B2-9536-4272-B706-9CA81F26B0F2}">
      <dsp:nvSpPr>
        <dsp:cNvPr id="0" name=""/>
        <dsp:cNvSpPr/>
      </dsp:nvSpPr>
      <dsp:spPr>
        <a:xfrm>
          <a:off x="715007" y="703930"/>
          <a:ext cx="899415" cy="56213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IN" sz="1200" kern="1200" dirty="0"/>
            <a:t>Tremor</a:t>
          </a:r>
        </a:p>
      </dsp:txBody>
      <dsp:txXfrm>
        <a:off x="731471" y="720394"/>
        <a:ext cx="866487" cy="529206"/>
      </dsp:txXfrm>
    </dsp:sp>
    <dsp:sp modelId="{3D8A8BA3-D175-49CD-B74A-7A3456625195}">
      <dsp:nvSpPr>
        <dsp:cNvPr id="0" name=""/>
        <dsp:cNvSpPr/>
      </dsp:nvSpPr>
      <dsp:spPr>
        <a:xfrm>
          <a:off x="602580" y="563397"/>
          <a:ext cx="112426" cy="1124269"/>
        </a:xfrm>
        <a:custGeom>
          <a:avLst/>
          <a:gdLst/>
          <a:ahLst/>
          <a:cxnLst/>
          <a:rect l="0" t="0" r="0" b="0"/>
          <a:pathLst>
            <a:path>
              <a:moveTo>
                <a:pt x="0" y="0"/>
              </a:moveTo>
              <a:lnTo>
                <a:pt x="0" y="1124269"/>
              </a:lnTo>
              <a:lnTo>
                <a:pt x="112426" y="1124269"/>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B46DC03-EEAD-433C-9494-2DDED3F9E6F9}">
      <dsp:nvSpPr>
        <dsp:cNvPr id="0" name=""/>
        <dsp:cNvSpPr/>
      </dsp:nvSpPr>
      <dsp:spPr>
        <a:xfrm>
          <a:off x="715007" y="1406599"/>
          <a:ext cx="899415" cy="56213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IN" sz="1200" kern="1200" dirty="0"/>
            <a:t>Rigidity</a:t>
          </a:r>
        </a:p>
      </dsp:txBody>
      <dsp:txXfrm>
        <a:off x="731471" y="1423063"/>
        <a:ext cx="866487" cy="529206"/>
      </dsp:txXfrm>
    </dsp:sp>
    <dsp:sp modelId="{D603213B-5645-4993-A7B4-3672EE72083E}">
      <dsp:nvSpPr>
        <dsp:cNvPr id="0" name=""/>
        <dsp:cNvSpPr/>
      </dsp:nvSpPr>
      <dsp:spPr>
        <a:xfrm>
          <a:off x="602580" y="563397"/>
          <a:ext cx="112426" cy="1826937"/>
        </a:xfrm>
        <a:custGeom>
          <a:avLst/>
          <a:gdLst/>
          <a:ahLst/>
          <a:cxnLst/>
          <a:rect l="0" t="0" r="0" b="0"/>
          <a:pathLst>
            <a:path>
              <a:moveTo>
                <a:pt x="0" y="0"/>
              </a:moveTo>
              <a:lnTo>
                <a:pt x="0" y="1826937"/>
              </a:lnTo>
              <a:lnTo>
                <a:pt x="112426" y="1826937"/>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65735D-C66F-4FEC-BC23-D7423913117F}">
      <dsp:nvSpPr>
        <dsp:cNvPr id="0" name=""/>
        <dsp:cNvSpPr/>
      </dsp:nvSpPr>
      <dsp:spPr>
        <a:xfrm>
          <a:off x="715007" y="2109267"/>
          <a:ext cx="899415" cy="56213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IN" sz="1200" kern="1200" dirty="0"/>
            <a:t>Bradykinesia</a:t>
          </a:r>
        </a:p>
      </dsp:txBody>
      <dsp:txXfrm>
        <a:off x="731471" y="2125731"/>
        <a:ext cx="866487" cy="529206"/>
      </dsp:txXfrm>
    </dsp:sp>
    <dsp:sp modelId="{9061D599-78F7-4D29-8A01-B3AE6E8B12CD}">
      <dsp:nvSpPr>
        <dsp:cNvPr id="0" name=""/>
        <dsp:cNvSpPr/>
      </dsp:nvSpPr>
      <dsp:spPr>
        <a:xfrm>
          <a:off x="602580" y="563397"/>
          <a:ext cx="112426" cy="2529605"/>
        </a:xfrm>
        <a:custGeom>
          <a:avLst/>
          <a:gdLst/>
          <a:ahLst/>
          <a:cxnLst/>
          <a:rect l="0" t="0" r="0" b="0"/>
          <a:pathLst>
            <a:path>
              <a:moveTo>
                <a:pt x="0" y="0"/>
              </a:moveTo>
              <a:lnTo>
                <a:pt x="0" y="2529605"/>
              </a:lnTo>
              <a:lnTo>
                <a:pt x="112426" y="2529605"/>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42CABC-DD46-4DE2-8C89-6573D7D9E1F8}">
      <dsp:nvSpPr>
        <dsp:cNvPr id="0" name=""/>
        <dsp:cNvSpPr/>
      </dsp:nvSpPr>
      <dsp:spPr>
        <a:xfrm>
          <a:off x="715007" y="2811935"/>
          <a:ext cx="899415" cy="56213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IN" sz="1200" kern="1200"/>
            <a:t>Instability</a:t>
          </a:r>
          <a:endParaRPr lang="en-IN" sz="1200" kern="1200" dirty="0"/>
        </a:p>
      </dsp:txBody>
      <dsp:txXfrm>
        <a:off x="731471" y="2828399"/>
        <a:ext cx="866487" cy="529206"/>
      </dsp:txXfrm>
    </dsp:sp>
    <dsp:sp modelId="{2BF519C9-68B3-4CCE-A31C-BAD840AFC0BB}">
      <dsp:nvSpPr>
        <dsp:cNvPr id="0" name=""/>
        <dsp:cNvSpPr/>
      </dsp:nvSpPr>
      <dsp:spPr>
        <a:xfrm>
          <a:off x="602580" y="563397"/>
          <a:ext cx="112426" cy="3232274"/>
        </a:xfrm>
        <a:custGeom>
          <a:avLst/>
          <a:gdLst/>
          <a:ahLst/>
          <a:cxnLst/>
          <a:rect l="0" t="0" r="0" b="0"/>
          <a:pathLst>
            <a:path>
              <a:moveTo>
                <a:pt x="0" y="0"/>
              </a:moveTo>
              <a:lnTo>
                <a:pt x="0" y="3232274"/>
              </a:lnTo>
              <a:lnTo>
                <a:pt x="112426" y="3232274"/>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DAE6972-A905-424F-8141-8CB8DF08591A}">
      <dsp:nvSpPr>
        <dsp:cNvPr id="0" name=""/>
        <dsp:cNvSpPr/>
      </dsp:nvSpPr>
      <dsp:spPr>
        <a:xfrm>
          <a:off x="715007" y="3514603"/>
          <a:ext cx="899415" cy="56213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IN" sz="1200" kern="1200"/>
            <a:t>Gait Impairment</a:t>
          </a:r>
          <a:endParaRPr lang="en-IN" sz="1200" kern="1200" dirty="0"/>
        </a:p>
      </dsp:txBody>
      <dsp:txXfrm>
        <a:off x="731471" y="3531067"/>
        <a:ext cx="866487" cy="529206"/>
      </dsp:txXfrm>
    </dsp:sp>
    <dsp:sp modelId="{8ADBA234-5102-4C4B-A65C-0D9F47DEE19B}">
      <dsp:nvSpPr>
        <dsp:cNvPr id="0" name=""/>
        <dsp:cNvSpPr/>
      </dsp:nvSpPr>
      <dsp:spPr>
        <a:xfrm>
          <a:off x="1895490" y="1262"/>
          <a:ext cx="1124269" cy="56213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IN" sz="1700" kern="1200" dirty="0"/>
            <a:t>Non-Motor Symptoms</a:t>
          </a:r>
        </a:p>
      </dsp:txBody>
      <dsp:txXfrm>
        <a:off x="1911954" y="17726"/>
        <a:ext cx="1091341" cy="529206"/>
      </dsp:txXfrm>
    </dsp:sp>
    <dsp:sp modelId="{B3C0B0AE-2FFE-4C51-A8AF-3ED424B233C6}">
      <dsp:nvSpPr>
        <dsp:cNvPr id="0" name=""/>
        <dsp:cNvSpPr/>
      </dsp:nvSpPr>
      <dsp:spPr>
        <a:xfrm>
          <a:off x="2007917" y="563397"/>
          <a:ext cx="112426" cy="421600"/>
        </a:xfrm>
        <a:custGeom>
          <a:avLst/>
          <a:gdLst/>
          <a:ahLst/>
          <a:cxnLst/>
          <a:rect l="0" t="0" r="0" b="0"/>
          <a:pathLst>
            <a:path>
              <a:moveTo>
                <a:pt x="0" y="0"/>
              </a:moveTo>
              <a:lnTo>
                <a:pt x="0" y="421600"/>
              </a:lnTo>
              <a:lnTo>
                <a:pt x="112426" y="42160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2F5761-613A-4C1C-A208-780C0068FBBA}">
      <dsp:nvSpPr>
        <dsp:cNvPr id="0" name=""/>
        <dsp:cNvSpPr/>
      </dsp:nvSpPr>
      <dsp:spPr>
        <a:xfrm>
          <a:off x="2120344" y="703930"/>
          <a:ext cx="899415" cy="56213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IN" sz="1200" kern="1200" dirty="0"/>
            <a:t>Mood Disorders</a:t>
          </a:r>
        </a:p>
      </dsp:txBody>
      <dsp:txXfrm>
        <a:off x="2136808" y="720394"/>
        <a:ext cx="866487" cy="529206"/>
      </dsp:txXfrm>
    </dsp:sp>
    <dsp:sp modelId="{5599A968-E2CF-446D-97C4-6B62EE9073F2}">
      <dsp:nvSpPr>
        <dsp:cNvPr id="0" name=""/>
        <dsp:cNvSpPr/>
      </dsp:nvSpPr>
      <dsp:spPr>
        <a:xfrm>
          <a:off x="2007917" y="563397"/>
          <a:ext cx="112426" cy="1124269"/>
        </a:xfrm>
        <a:custGeom>
          <a:avLst/>
          <a:gdLst/>
          <a:ahLst/>
          <a:cxnLst/>
          <a:rect l="0" t="0" r="0" b="0"/>
          <a:pathLst>
            <a:path>
              <a:moveTo>
                <a:pt x="0" y="0"/>
              </a:moveTo>
              <a:lnTo>
                <a:pt x="0" y="1124269"/>
              </a:lnTo>
              <a:lnTo>
                <a:pt x="112426" y="1124269"/>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C40F53D-8AF6-4C4D-AF45-C2F9DF16C8AF}">
      <dsp:nvSpPr>
        <dsp:cNvPr id="0" name=""/>
        <dsp:cNvSpPr/>
      </dsp:nvSpPr>
      <dsp:spPr>
        <a:xfrm>
          <a:off x="2120344" y="1406599"/>
          <a:ext cx="899415" cy="56213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IN" sz="1200" kern="1200"/>
            <a:t>Sleep Disturbances</a:t>
          </a:r>
          <a:endParaRPr lang="en-IN" sz="1200" kern="1200" dirty="0"/>
        </a:p>
      </dsp:txBody>
      <dsp:txXfrm>
        <a:off x="2136808" y="1423063"/>
        <a:ext cx="866487" cy="529206"/>
      </dsp:txXfrm>
    </dsp:sp>
    <dsp:sp modelId="{FB55DA8A-B419-438D-A0C5-9FD8BCE4E591}">
      <dsp:nvSpPr>
        <dsp:cNvPr id="0" name=""/>
        <dsp:cNvSpPr/>
      </dsp:nvSpPr>
      <dsp:spPr>
        <a:xfrm>
          <a:off x="2007917" y="563397"/>
          <a:ext cx="112426" cy="1826937"/>
        </a:xfrm>
        <a:custGeom>
          <a:avLst/>
          <a:gdLst/>
          <a:ahLst/>
          <a:cxnLst/>
          <a:rect l="0" t="0" r="0" b="0"/>
          <a:pathLst>
            <a:path>
              <a:moveTo>
                <a:pt x="0" y="0"/>
              </a:moveTo>
              <a:lnTo>
                <a:pt x="0" y="1826937"/>
              </a:lnTo>
              <a:lnTo>
                <a:pt x="112426" y="1826937"/>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8BBD2B2-DA67-4C56-9991-4D30BD745542}">
      <dsp:nvSpPr>
        <dsp:cNvPr id="0" name=""/>
        <dsp:cNvSpPr/>
      </dsp:nvSpPr>
      <dsp:spPr>
        <a:xfrm>
          <a:off x="2120344" y="2109267"/>
          <a:ext cx="899415" cy="56213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IN" sz="1200" kern="1200"/>
            <a:t>Cognitive Impairments</a:t>
          </a:r>
          <a:endParaRPr lang="en-IN" sz="1200" kern="1200" dirty="0"/>
        </a:p>
      </dsp:txBody>
      <dsp:txXfrm>
        <a:off x="2136808" y="2125731"/>
        <a:ext cx="866487" cy="5292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FF49A8-7746-496E-9DA3-97670C6CEF0B}">
      <dsp:nvSpPr>
        <dsp:cNvPr id="0" name=""/>
        <dsp:cNvSpPr/>
      </dsp:nvSpPr>
      <dsp:spPr>
        <a:xfrm>
          <a:off x="3571" y="497736"/>
          <a:ext cx="1561703" cy="93702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dirty="0"/>
            <a:t>Input from Magnetic Coils</a:t>
          </a:r>
        </a:p>
      </dsp:txBody>
      <dsp:txXfrm>
        <a:off x="31015" y="525180"/>
        <a:ext cx="1506815" cy="882133"/>
      </dsp:txXfrm>
    </dsp:sp>
    <dsp:sp modelId="{0C1E6B7B-ABBA-4CE2-BCE1-BA4D06FD98A1}">
      <dsp:nvSpPr>
        <dsp:cNvPr id="0" name=""/>
        <dsp:cNvSpPr/>
      </dsp:nvSpPr>
      <dsp:spPr>
        <a:xfrm>
          <a:off x="1721445" y="772596"/>
          <a:ext cx="331081" cy="3873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1721445" y="850056"/>
        <a:ext cx="231757" cy="232382"/>
      </dsp:txXfrm>
    </dsp:sp>
    <dsp:sp modelId="{0326B235-4469-43AA-A53F-6F1F0FF33598}">
      <dsp:nvSpPr>
        <dsp:cNvPr id="0" name=""/>
        <dsp:cNvSpPr/>
      </dsp:nvSpPr>
      <dsp:spPr>
        <a:xfrm>
          <a:off x="2189956" y="497736"/>
          <a:ext cx="1561703" cy="93702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dirty="0"/>
            <a:t>Microcontroller</a:t>
          </a:r>
        </a:p>
      </dsp:txBody>
      <dsp:txXfrm>
        <a:off x="2217400" y="525180"/>
        <a:ext cx="1506815" cy="882133"/>
      </dsp:txXfrm>
    </dsp:sp>
    <dsp:sp modelId="{CA779662-550B-427D-9725-152E612F9CD7}">
      <dsp:nvSpPr>
        <dsp:cNvPr id="0" name=""/>
        <dsp:cNvSpPr/>
      </dsp:nvSpPr>
      <dsp:spPr>
        <a:xfrm>
          <a:off x="3907829" y="772596"/>
          <a:ext cx="331081" cy="3873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3907829" y="850056"/>
        <a:ext cx="231757" cy="232382"/>
      </dsp:txXfrm>
    </dsp:sp>
    <dsp:sp modelId="{776D6422-7160-433F-8834-289B31DA8DF7}">
      <dsp:nvSpPr>
        <dsp:cNvPr id="0" name=""/>
        <dsp:cNvSpPr/>
      </dsp:nvSpPr>
      <dsp:spPr>
        <a:xfrm>
          <a:off x="4376340" y="497736"/>
          <a:ext cx="1561703" cy="93702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dirty="0"/>
            <a:t>Patient</a:t>
          </a:r>
        </a:p>
        <a:p>
          <a:pPr marL="0" lvl="0" indent="0" algn="ctr" defTabSz="755650">
            <a:lnSpc>
              <a:spcPct val="90000"/>
            </a:lnSpc>
            <a:spcBef>
              <a:spcPct val="0"/>
            </a:spcBef>
            <a:spcAft>
              <a:spcPct val="35000"/>
            </a:spcAft>
            <a:buNone/>
          </a:pPr>
          <a:r>
            <a:rPr lang="en-IN" sz="1700" kern="1200" dirty="0"/>
            <a:t>(Motor Cortex)</a:t>
          </a:r>
        </a:p>
      </dsp:txBody>
      <dsp:txXfrm>
        <a:off x="4403784" y="525180"/>
        <a:ext cx="1506815" cy="882133"/>
      </dsp:txXfrm>
    </dsp:sp>
    <dsp:sp modelId="{875C9985-7CD0-43A8-A50E-C0FD54B4A173}">
      <dsp:nvSpPr>
        <dsp:cNvPr id="0" name=""/>
        <dsp:cNvSpPr/>
      </dsp:nvSpPr>
      <dsp:spPr>
        <a:xfrm>
          <a:off x="6094214" y="772596"/>
          <a:ext cx="331081" cy="3873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6094214" y="850056"/>
        <a:ext cx="231757" cy="232382"/>
      </dsp:txXfrm>
    </dsp:sp>
    <dsp:sp modelId="{810ABFFB-E427-45A5-9B72-2F451B82EA66}">
      <dsp:nvSpPr>
        <dsp:cNvPr id="0" name=""/>
        <dsp:cNvSpPr/>
      </dsp:nvSpPr>
      <dsp:spPr>
        <a:xfrm>
          <a:off x="6562724" y="497736"/>
          <a:ext cx="1561703" cy="93702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EEG Data</a:t>
          </a:r>
          <a:endParaRPr lang="en-IN" sz="1700" kern="1200" dirty="0"/>
        </a:p>
      </dsp:txBody>
      <dsp:txXfrm>
        <a:off x="6590168" y="525180"/>
        <a:ext cx="1506815" cy="88213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E53680-3F0F-4019-B3E5-846F94F26990}">
      <dsp:nvSpPr>
        <dsp:cNvPr id="0" name=""/>
        <dsp:cNvSpPr/>
      </dsp:nvSpPr>
      <dsp:spPr>
        <a:xfrm>
          <a:off x="4129" y="746312"/>
          <a:ext cx="1805417" cy="108325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Stage 1 Trial</a:t>
          </a:r>
        </a:p>
      </dsp:txBody>
      <dsp:txXfrm>
        <a:off x="35856" y="778039"/>
        <a:ext cx="1741963" cy="1019796"/>
      </dsp:txXfrm>
    </dsp:sp>
    <dsp:sp modelId="{D81D65C3-79E5-4048-A34F-E93BAD047881}">
      <dsp:nvSpPr>
        <dsp:cNvPr id="0" name=""/>
        <dsp:cNvSpPr/>
      </dsp:nvSpPr>
      <dsp:spPr>
        <a:xfrm>
          <a:off x="1990088" y="1064065"/>
          <a:ext cx="382748" cy="44774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a:off x="1990088" y="1153614"/>
        <a:ext cx="267924" cy="268645"/>
      </dsp:txXfrm>
    </dsp:sp>
    <dsp:sp modelId="{30211B29-EFBD-42EB-BB02-E719A03886C4}">
      <dsp:nvSpPr>
        <dsp:cNvPr id="0" name=""/>
        <dsp:cNvSpPr/>
      </dsp:nvSpPr>
      <dsp:spPr>
        <a:xfrm>
          <a:off x="2531713" y="746312"/>
          <a:ext cx="1805417" cy="108325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Stage 2 Trial</a:t>
          </a:r>
        </a:p>
      </dsp:txBody>
      <dsp:txXfrm>
        <a:off x="2563440" y="778039"/>
        <a:ext cx="1741963" cy="1019796"/>
      </dsp:txXfrm>
    </dsp:sp>
    <dsp:sp modelId="{BA297781-D6BF-4F9C-97C7-DCA6A3CAB38F}">
      <dsp:nvSpPr>
        <dsp:cNvPr id="0" name=""/>
        <dsp:cNvSpPr/>
      </dsp:nvSpPr>
      <dsp:spPr>
        <a:xfrm>
          <a:off x="4517672" y="1064065"/>
          <a:ext cx="382748" cy="44774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a:off x="4517672" y="1153614"/>
        <a:ext cx="267924" cy="268645"/>
      </dsp:txXfrm>
    </dsp:sp>
    <dsp:sp modelId="{F22E343F-198B-45B3-98A0-B0DDF4B6E3D4}">
      <dsp:nvSpPr>
        <dsp:cNvPr id="0" name=""/>
        <dsp:cNvSpPr/>
      </dsp:nvSpPr>
      <dsp:spPr>
        <a:xfrm>
          <a:off x="5059297" y="746312"/>
          <a:ext cx="1805417" cy="108325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Phase 3 Trial</a:t>
          </a:r>
        </a:p>
      </dsp:txBody>
      <dsp:txXfrm>
        <a:off x="5091024" y="778039"/>
        <a:ext cx="1741963" cy="1019796"/>
      </dsp:txXfrm>
    </dsp:sp>
    <dsp:sp modelId="{555961D5-A33E-4937-8616-C747842909C5}">
      <dsp:nvSpPr>
        <dsp:cNvPr id="0" name=""/>
        <dsp:cNvSpPr/>
      </dsp:nvSpPr>
      <dsp:spPr>
        <a:xfrm>
          <a:off x="7045257" y="1064065"/>
          <a:ext cx="382748" cy="44774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a:off x="7045257" y="1153614"/>
        <a:ext cx="267924" cy="268645"/>
      </dsp:txXfrm>
    </dsp:sp>
    <dsp:sp modelId="{F92607A9-7563-4FE9-8DDC-ADFFC8642DE7}">
      <dsp:nvSpPr>
        <dsp:cNvPr id="0" name=""/>
        <dsp:cNvSpPr/>
      </dsp:nvSpPr>
      <dsp:spPr>
        <a:xfrm>
          <a:off x="7586882" y="746312"/>
          <a:ext cx="1805417" cy="108325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FDA De Novo Class II Clearance</a:t>
          </a:r>
        </a:p>
      </dsp:txBody>
      <dsp:txXfrm>
        <a:off x="7618609" y="778039"/>
        <a:ext cx="1741963" cy="101979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B302504-8A53-42ED-938F-AAA198BB2B2F}" type="datetimeFigureOut">
              <a:rPr lang="en-IN" smtClean="0"/>
              <a:t>03-12-2025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6FF2E7-C6C9-4FE2-953E-F1CF7757D2B2}"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0293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302504-8A53-42ED-938F-AAA198BB2B2F}" type="datetimeFigureOut">
              <a:rPr lang="en-IN" smtClean="0"/>
              <a:t>03-12-2025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6FF2E7-C6C9-4FE2-953E-F1CF7757D2B2}" type="slidenum">
              <a:rPr lang="en-IN" smtClean="0"/>
              <a:t>‹#›</a:t>
            </a:fld>
            <a:endParaRPr lang="en-IN"/>
          </a:p>
        </p:txBody>
      </p:sp>
    </p:spTree>
    <p:extLst>
      <p:ext uri="{BB962C8B-B14F-4D97-AF65-F5344CB8AC3E}">
        <p14:creationId xmlns:p14="http://schemas.microsoft.com/office/powerpoint/2010/main" val="2417473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302504-8A53-42ED-938F-AAA198BB2B2F}" type="datetimeFigureOut">
              <a:rPr lang="en-IN" smtClean="0"/>
              <a:t>03-12-2025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6FF2E7-C6C9-4FE2-953E-F1CF7757D2B2}"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1490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302504-8A53-42ED-938F-AAA198BB2B2F}" type="datetimeFigureOut">
              <a:rPr lang="en-IN" smtClean="0"/>
              <a:t>03-12-2025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6FF2E7-C6C9-4FE2-953E-F1CF7757D2B2}" type="slidenum">
              <a:rPr lang="en-IN" smtClean="0"/>
              <a:t>‹#›</a:t>
            </a:fld>
            <a:endParaRPr lang="en-IN"/>
          </a:p>
        </p:txBody>
      </p:sp>
    </p:spTree>
    <p:extLst>
      <p:ext uri="{BB962C8B-B14F-4D97-AF65-F5344CB8AC3E}">
        <p14:creationId xmlns:p14="http://schemas.microsoft.com/office/powerpoint/2010/main" val="596175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B302504-8A53-42ED-938F-AAA198BB2B2F}" type="datetimeFigureOut">
              <a:rPr lang="en-IN" smtClean="0"/>
              <a:t>03-12-2025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26FF2E7-C6C9-4FE2-953E-F1CF7757D2B2}" type="slidenum">
              <a:rPr lang="en-IN" smtClean="0"/>
              <a:t>‹#›</a:t>
            </a:fld>
            <a:endParaRPr lang="en-IN"/>
          </a:p>
        </p:txBody>
      </p:sp>
    </p:spTree>
    <p:extLst>
      <p:ext uri="{BB962C8B-B14F-4D97-AF65-F5344CB8AC3E}">
        <p14:creationId xmlns:p14="http://schemas.microsoft.com/office/powerpoint/2010/main" val="1477972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B302504-8A53-42ED-938F-AAA198BB2B2F}" type="datetimeFigureOut">
              <a:rPr lang="en-IN" smtClean="0"/>
              <a:t>03-12-2025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26FF2E7-C6C9-4FE2-953E-F1CF7757D2B2}" type="slidenum">
              <a:rPr lang="en-IN" smtClean="0"/>
              <a:t>‹#›</a:t>
            </a:fld>
            <a:endParaRPr lang="en-IN"/>
          </a:p>
        </p:txBody>
      </p:sp>
    </p:spTree>
    <p:extLst>
      <p:ext uri="{BB962C8B-B14F-4D97-AF65-F5344CB8AC3E}">
        <p14:creationId xmlns:p14="http://schemas.microsoft.com/office/powerpoint/2010/main" val="3701983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B302504-8A53-42ED-938F-AAA198BB2B2F}" type="datetimeFigureOut">
              <a:rPr lang="en-IN" smtClean="0"/>
              <a:t>03-12-2025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A26FF2E7-C6C9-4FE2-953E-F1CF7757D2B2}" type="slidenum">
              <a:rPr lang="en-IN" smtClean="0"/>
              <a:t>‹#›</a:t>
            </a:fld>
            <a:endParaRPr lang="en-IN"/>
          </a:p>
        </p:txBody>
      </p:sp>
    </p:spTree>
    <p:extLst>
      <p:ext uri="{BB962C8B-B14F-4D97-AF65-F5344CB8AC3E}">
        <p14:creationId xmlns:p14="http://schemas.microsoft.com/office/powerpoint/2010/main" val="2513445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B302504-8A53-42ED-938F-AAA198BB2B2F}" type="datetimeFigureOut">
              <a:rPr lang="en-IN" smtClean="0"/>
              <a:t>03-12-2025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26FF2E7-C6C9-4FE2-953E-F1CF7757D2B2}" type="slidenum">
              <a:rPr lang="en-IN" smtClean="0"/>
              <a:t>‹#›</a:t>
            </a:fld>
            <a:endParaRPr lang="en-IN"/>
          </a:p>
        </p:txBody>
      </p:sp>
    </p:spTree>
    <p:extLst>
      <p:ext uri="{BB962C8B-B14F-4D97-AF65-F5344CB8AC3E}">
        <p14:creationId xmlns:p14="http://schemas.microsoft.com/office/powerpoint/2010/main" val="2647233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B302504-8A53-42ED-938F-AAA198BB2B2F}" type="datetimeFigureOut">
              <a:rPr lang="en-IN" smtClean="0"/>
              <a:t>03-12-2025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6FF2E7-C6C9-4FE2-953E-F1CF7757D2B2}" type="slidenum">
              <a:rPr lang="en-IN" smtClean="0"/>
              <a:t>‹#›</a:t>
            </a:fld>
            <a:endParaRPr lang="en-IN"/>
          </a:p>
        </p:txBody>
      </p:sp>
    </p:spTree>
    <p:extLst>
      <p:ext uri="{BB962C8B-B14F-4D97-AF65-F5344CB8AC3E}">
        <p14:creationId xmlns:p14="http://schemas.microsoft.com/office/powerpoint/2010/main" val="4125040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302504-8A53-42ED-938F-AAA198BB2B2F}" type="datetimeFigureOut">
              <a:rPr lang="en-IN" smtClean="0"/>
              <a:t>03-12-2025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6FF2E7-C6C9-4FE2-953E-F1CF7757D2B2}" type="slidenum">
              <a:rPr lang="en-IN" smtClean="0"/>
              <a:t>‹#›</a:t>
            </a:fld>
            <a:endParaRPr lang="en-IN"/>
          </a:p>
        </p:txBody>
      </p:sp>
    </p:spTree>
    <p:extLst>
      <p:ext uri="{BB962C8B-B14F-4D97-AF65-F5344CB8AC3E}">
        <p14:creationId xmlns:p14="http://schemas.microsoft.com/office/powerpoint/2010/main" val="3134311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302504-8A53-42ED-938F-AAA198BB2B2F}" type="datetimeFigureOut">
              <a:rPr lang="en-IN" smtClean="0"/>
              <a:t>03-12-2025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6FF2E7-C6C9-4FE2-953E-F1CF7757D2B2}" type="slidenum">
              <a:rPr lang="en-IN" smtClean="0"/>
              <a:t>‹#›</a:t>
            </a:fld>
            <a:endParaRPr lang="en-IN"/>
          </a:p>
        </p:txBody>
      </p:sp>
    </p:spTree>
    <p:extLst>
      <p:ext uri="{BB962C8B-B14F-4D97-AF65-F5344CB8AC3E}">
        <p14:creationId xmlns:p14="http://schemas.microsoft.com/office/powerpoint/2010/main" val="3518131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B302504-8A53-42ED-938F-AAA198BB2B2F}" type="datetimeFigureOut">
              <a:rPr lang="en-IN" smtClean="0"/>
              <a:t>03-12-2025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26FF2E7-C6C9-4FE2-953E-F1CF7757D2B2}"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267760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thebluediamondgallery.com/typewriter/t/thank-you.html" TargetMode="External"/><Relationship Id="rId2" Type="http://schemas.openxmlformats.org/officeDocument/2006/relationships/image" Target="../media/image6.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C06D5-6C70-E5CF-6512-6739A44D3BFD}"/>
              </a:ext>
            </a:extLst>
          </p:cNvPr>
          <p:cNvSpPr>
            <a:spLocks noGrp="1"/>
          </p:cNvSpPr>
          <p:nvPr>
            <p:ph type="ctrTitle"/>
          </p:nvPr>
        </p:nvSpPr>
        <p:spPr>
          <a:xfrm>
            <a:off x="1097280" y="1159498"/>
            <a:ext cx="10058400" cy="3845684"/>
          </a:xfrm>
        </p:spPr>
        <p:txBody>
          <a:bodyPr>
            <a:normAutofit fontScale="90000"/>
          </a:bodyPr>
          <a:lstStyle/>
          <a:p>
            <a:pPr algn="ct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BENG 294A PATIENT CENTERED CLINICAL MEDICINE</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FINAL PRESENTATION</a:t>
            </a:r>
            <a:br>
              <a:rPr lang="en-US" sz="3600"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Novel Therapeutic: Wearable Transcranial Magnetic Neuromodulation Cap for Motor Symptom Management in Parkinson’s Disease </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16D939C-22E4-01B5-BABE-7B51A6B9E7B4}"/>
              </a:ext>
            </a:extLst>
          </p:cNvPr>
          <p:cNvSpPr>
            <a:spLocks noGrp="1"/>
          </p:cNvSpPr>
          <p:nvPr>
            <p:ph type="subTitle" idx="1"/>
          </p:nvPr>
        </p:nvSpPr>
        <p:spPr>
          <a:xfrm>
            <a:off x="1066800" y="4553596"/>
            <a:ext cx="10058400" cy="451585"/>
          </a:xfrm>
        </p:spPr>
        <p:txBody>
          <a:bodyPr/>
          <a:lstStyle/>
          <a:p>
            <a:pPr algn="ctr"/>
            <a:r>
              <a:rPr lang="en-US" dirty="0">
                <a:latin typeface="Times New Roman" panose="02020603050405020304" pitchFamily="18" charset="0"/>
                <a:cs typeface="Times New Roman" panose="02020603050405020304" pitchFamily="18" charset="0"/>
              </a:rPr>
              <a:t>By: abhishek lele (a69041597)</a:t>
            </a:r>
            <a:endParaRPr lang="en-IN" dirty="0">
              <a:latin typeface="Times New Roman" panose="02020603050405020304" pitchFamily="18" charset="0"/>
              <a:cs typeface="Times New Roman" panose="02020603050405020304" pitchFamily="18" charset="0"/>
            </a:endParaRPr>
          </a:p>
        </p:txBody>
      </p:sp>
      <p:pic>
        <p:nvPicPr>
          <p:cNvPr id="1026" name="Picture 2" descr="UCSD CCAL">
            <a:extLst>
              <a:ext uri="{FF2B5EF4-FFF2-40B4-BE49-F238E27FC236}">
                <a16:creationId xmlns:a16="http://schemas.microsoft.com/office/drawing/2014/main" id="{52454531-5255-73A5-01BC-72D8153DE8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2683" y="102942"/>
            <a:ext cx="3596347" cy="849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6242339"/>
      </p:ext>
    </p:extLst>
  </p:cSld>
  <p:clrMapOvr>
    <a:masterClrMapping/>
  </p:clrMapOvr>
  <mc:AlternateContent xmlns:mc="http://schemas.openxmlformats.org/markup-compatibility/2006" xmlns:p14="http://schemas.microsoft.com/office/powerpoint/2010/main">
    <mc:Choice Requires="p14">
      <p:transition spd="slow" p14:dur="2000" advTm="6670"/>
    </mc:Choice>
    <mc:Fallback xmlns="">
      <p:transition spd="slow" advTm="667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71CB5C-5676-42E3-8645-5CD831BD0411}"/>
              </a:ext>
            </a:extLst>
          </p:cNvPr>
          <p:cNvSpPr txBox="1"/>
          <p:nvPr/>
        </p:nvSpPr>
        <p:spPr>
          <a:xfrm>
            <a:off x="443059" y="185891"/>
            <a:ext cx="11566689" cy="830997"/>
          </a:xfrm>
          <a:prstGeom prst="rect">
            <a:avLst/>
          </a:prstGeom>
          <a:noFill/>
        </p:spPr>
        <p:txBody>
          <a:bodyPr wrap="square">
            <a:spAutoFit/>
          </a:bodyPr>
          <a:lstStyle/>
          <a:p>
            <a:pPr algn="ctr">
              <a:buNone/>
            </a:pPr>
            <a:r>
              <a:rPr lang="en-IN" sz="4800" b="1" dirty="0">
                <a:latin typeface="Times New Roman" panose="02020603050405020304" pitchFamily="18" charset="0"/>
                <a:cs typeface="Times New Roman" panose="02020603050405020304" pitchFamily="18" charset="0"/>
              </a:rPr>
              <a:t>Outline of the Presentation</a:t>
            </a:r>
          </a:p>
        </p:txBody>
      </p:sp>
      <p:sp>
        <p:nvSpPr>
          <p:cNvPr id="4" name="Rectangle 3">
            <a:extLst>
              <a:ext uri="{FF2B5EF4-FFF2-40B4-BE49-F238E27FC236}">
                <a16:creationId xmlns:a16="http://schemas.microsoft.com/office/drawing/2014/main" id="{F71EAB6C-4895-520F-BDE3-04B08ED85424}"/>
              </a:ext>
            </a:extLst>
          </p:cNvPr>
          <p:cNvSpPr/>
          <p:nvPr/>
        </p:nvSpPr>
        <p:spPr>
          <a:xfrm>
            <a:off x="2260076" y="1161853"/>
            <a:ext cx="7671848" cy="4534293"/>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marL="342900" indent="-342900" algn="just">
              <a:buFont typeface="Arial" panose="020B0604020202020204" pitchFamily="34" charset="0"/>
              <a:buChar char="•"/>
            </a:pPr>
            <a:r>
              <a:rPr lang="en-IN"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Introduction to Parkinson’s Disease</a:t>
            </a:r>
          </a:p>
          <a:p>
            <a:pPr marL="342900" indent="-342900" algn="just">
              <a:buFont typeface="Arial" panose="020B0604020202020204" pitchFamily="34" charset="0"/>
              <a:buChar char="•"/>
            </a:pPr>
            <a:r>
              <a:rPr lang="en-IN"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Quantifying Motor Symptoms – Devices</a:t>
            </a:r>
          </a:p>
          <a:p>
            <a:pPr marL="342900" indent="-342900" algn="just">
              <a:buFont typeface="Arial" panose="020B0604020202020204" pitchFamily="34" charset="0"/>
              <a:buChar char="•"/>
            </a:pPr>
            <a:r>
              <a:rPr lang="en-IN"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Quantifying Motor Symptoms – Clinical Tests and Rating Scales</a:t>
            </a:r>
          </a:p>
          <a:p>
            <a:pPr marL="342900" indent="-342900" algn="just">
              <a:buFont typeface="Arial" panose="020B0604020202020204" pitchFamily="34" charset="0"/>
              <a:buChar char="•"/>
            </a:pPr>
            <a:r>
              <a:rPr lang="en-IN"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Current Treatment Strategies</a:t>
            </a:r>
          </a:p>
          <a:p>
            <a:pPr marL="342900" indent="-342900" algn="just">
              <a:buFont typeface="Arial" panose="020B0604020202020204" pitchFamily="34" charset="0"/>
              <a:buChar char="•"/>
            </a:pPr>
            <a:r>
              <a:rPr lang="en-IN"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Unmet Clinical Need</a:t>
            </a:r>
          </a:p>
          <a:p>
            <a:pPr marL="342900" indent="-342900" algn="just">
              <a:buFont typeface="Arial" panose="020B0604020202020204" pitchFamily="34" charset="0"/>
              <a:buChar char="•"/>
            </a:pPr>
            <a:r>
              <a:rPr lang="en-IN"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Proposed Novel Therapeutic</a:t>
            </a:r>
          </a:p>
          <a:p>
            <a:pPr marL="342900" indent="-342900" algn="just">
              <a:buFont typeface="Arial" panose="020B0604020202020204" pitchFamily="34" charset="0"/>
              <a:buChar char="•"/>
            </a:pPr>
            <a:r>
              <a:rPr lang="en-IN"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Advantages Over Current Therapeutics</a:t>
            </a:r>
          </a:p>
          <a:p>
            <a:pPr marL="342900" indent="-342900" algn="just">
              <a:buFont typeface="Arial" panose="020B0604020202020204" pitchFamily="34" charset="0"/>
              <a:buChar char="•"/>
            </a:pPr>
            <a:r>
              <a:rPr lang="en-IN"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Device Clearance</a:t>
            </a:r>
          </a:p>
          <a:p>
            <a:pPr marL="342900" indent="-342900" algn="just">
              <a:buFont typeface="Arial" panose="020B0604020202020204" pitchFamily="34" charset="0"/>
              <a:buChar char="•"/>
            </a:pPr>
            <a:r>
              <a:rPr lang="en-IN"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Designing a Clinical Trial – First In-Human Clinical Trial</a:t>
            </a:r>
          </a:p>
          <a:p>
            <a:pPr marL="800100" lvl="1" indent="-342900" algn="just">
              <a:buFont typeface="Arial" panose="020B0604020202020204" pitchFamily="34" charset="0"/>
              <a:buChar char="•"/>
            </a:pPr>
            <a:r>
              <a:rPr lang="en-IN"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Stage 1: Open-Label Feasibility &amp; Safety Run-In</a:t>
            </a:r>
          </a:p>
          <a:p>
            <a:pPr marL="800100" lvl="1" indent="-342900" algn="just">
              <a:buFont typeface="Arial" panose="020B0604020202020204" pitchFamily="34" charset="0"/>
              <a:buChar char="•"/>
            </a:pPr>
            <a:r>
              <a:rPr lang="en-IN"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Stage 2: Randomized, Double-Blind, Sham-Controlled Trial</a:t>
            </a:r>
          </a:p>
          <a:p>
            <a:pPr marL="342900" indent="-342900" algn="just">
              <a:buFont typeface="Arial" panose="020B0604020202020204" pitchFamily="34" charset="0"/>
              <a:buChar char="•"/>
            </a:pPr>
            <a:r>
              <a:rPr lang="en-IN"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Designing a Clinical Trial – Pivotal Phase 3 Clinical Trial</a:t>
            </a:r>
          </a:p>
          <a:p>
            <a:pPr marL="342900" indent="-342900" algn="just">
              <a:buFont typeface="Arial" panose="020B0604020202020204" pitchFamily="34" charset="0"/>
              <a:buChar char="•"/>
            </a:pPr>
            <a:r>
              <a:rPr lang="en-IN"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Market Entry</a:t>
            </a:r>
          </a:p>
          <a:p>
            <a:pPr marL="342900" indent="-342900" algn="just">
              <a:buFont typeface="Arial" panose="020B0604020202020204" pitchFamily="34" charset="0"/>
              <a:buChar char="•"/>
            </a:pPr>
            <a:r>
              <a:rPr lang="en-IN"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4041135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6371A-65B2-FD4F-9F26-CD8318067C80}"/>
              </a:ext>
            </a:extLst>
          </p:cNvPr>
          <p:cNvSpPr>
            <a:spLocks noGrp="1"/>
          </p:cNvSpPr>
          <p:nvPr>
            <p:ph type="title"/>
          </p:nvPr>
        </p:nvSpPr>
        <p:spPr>
          <a:xfrm>
            <a:off x="1066800" y="561886"/>
            <a:ext cx="10058400" cy="854040"/>
          </a:xfrm>
        </p:spPr>
        <p:txBody>
          <a:bodyPr/>
          <a:lstStyle/>
          <a:p>
            <a:pPr algn="ctr"/>
            <a:r>
              <a:rPr lang="en-US" b="1" dirty="0">
                <a:latin typeface="Times New Roman" panose="02020603050405020304" pitchFamily="18" charset="0"/>
                <a:cs typeface="Times New Roman" panose="02020603050405020304" pitchFamily="18" charset="0"/>
              </a:rPr>
              <a:t>Introduction to Parkinson’s Disease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A51C001-8C71-21F5-45A2-478C311040F7}"/>
              </a:ext>
            </a:extLst>
          </p:cNvPr>
          <p:cNvSpPr>
            <a:spLocks noGrp="1"/>
          </p:cNvSpPr>
          <p:nvPr>
            <p:ph idx="1"/>
          </p:nvPr>
        </p:nvSpPr>
        <p:spPr>
          <a:xfrm>
            <a:off x="179109" y="1791093"/>
            <a:ext cx="8427563" cy="4505021"/>
          </a:xfrm>
        </p:spPr>
        <p:txBody>
          <a:bodyPr>
            <a:noAutofit/>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Parkinson’s Disease (PD) is a progressive and chronic neurodegenerative disorder characterized by motor symptoms such as tremor, rigidity, and bradykinesia.</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PD affects more than 10 million people in the world with 10% of the total patient population being in the U.S. PD is a major cause for deteriorated quality of life.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Although PD is not directly fatal or life threatening, and patients usually manage to continue and perform their daily activities, it can lead to complications associated with mobility and balance and can cause pneumonia if the condition is left untreated, shortening the lifespan when compared with the regular population.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The condition often affects the elderly population (60+) of both sexes, slightly more common in men, and is usually resistant to medication or requires invasive deep brain stimulation (DBS). While PD is uncurable, it is often manageable, especially in the early stage.</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19944FA-3F17-7560-92FC-9AFCA0876C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8738648" y="1883727"/>
            <a:ext cx="3368893" cy="2235786"/>
          </a:xfrm>
          <a:prstGeom prst="rect">
            <a:avLst/>
          </a:prstGeom>
          <a:noFill/>
        </p:spPr>
      </p:pic>
      <p:sp>
        <p:nvSpPr>
          <p:cNvPr id="5" name="Rectangle 4">
            <a:extLst>
              <a:ext uri="{FF2B5EF4-FFF2-40B4-BE49-F238E27FC236}">
                <a16:creationId xmlns:a16="http://schemas.microsoft.com/office/drawing/2014/main" id="{0F200F2D-259F-B932-B941-22DA0EDF9938}"/>
              </a:ext>
            </a:extLst>
          </p:cNvPr>
          <p:cNvSpPr/>
          <p:nvPr/>
        </p:nvSpPr>
        <p:spPr>
          <a:xfrm>
            <a:off x="8738648" y="4204355"/>
            <a:ext cx="3368893" cy="11406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Times New Roman" panose="02020603050405020304" pitchFamily="18" charset="0"/>
                <a:cs typeface="Times New Roman" panose="02020603050405020304" pitchFamily="18" charset="0"/>
              </a:rPr>
              <a:t>The symptoms of Parkinson's Disease are a direct result of the loss of dopamine-producing neurons located in a specific brain region called the pars compacta of the substantia nigra.</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2822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CDE62-425F-E74D-CCF0-C16521BD4D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EBD29B-4AF3-46A2-672C-F8889CFE9D75}"/>
              </a:ext>
            </a:extLst>
          </p:cNvPr>
          <p:cNvSpPr>
            <a:spLocks noGrp="1"/>
          </p:cNvSpPr>
          <p:nvPr>
            <p:ph type="title"/>
          </p:nvPr>
        </p:nvSpPr>
        <p:spPr>
          <a:xfrm>
            <a:off x="1066800" y="561886"/>
            <a:ext cx="10058400" cy="854040"/>
          </a:xfrm>
        </p:spPr>
        <p:txBody>
          <a:bodyPr/>
          <a:lstStyle/>
          <a:p>
            <a:pPr algn="ctr"/>
            <a:r>
              <a:rPr lang="en-US" b="1" dirty="0"/>
              <a:t>Introduction to Parkinson’s Disease</a:t>
            </a:r>
            <a:endParaRPr lang="en-IN" b="1" dirty="0"/>
          </a:p>
        </p:txBody>
      </p:sp>
      <p:sp>
        <p:nvSpPr>
          <p:cNvPr id="3" name="Content Placeholder 2">
            <a:extLst>
              <a:ext uri="{FF2B5EF4-FFF2-40B4-BE49-F238E27FC236}">
                <a16:creationId xmlns:a16="http://schemas.microsoft.com/office/drawing/2014/main" id="{6F83C8AC-DDC7-1547-984D-D9E6F4806086}"/>
              </a:ext>
            </a:extLst>
          </p:cNvPr>
          <p:cNvSpPr>
            <a:spLocks noGrp="1"/>
          </p:cNvSpPr>
          <p:nvPr>
            <p:ph idx="1"/>
          </p:nvPr>
        </p:nvSpPr>
        <p:spPr>
          <a:xfrm>
            <a:off x="169682" y="1912008"/>
            <a:ext cx="4967926" cy="4078001"/>
          </a:xfrm>
        </p:spPr>
        <p:txBody>
          <a:bodyPr>
            <a:noAutofit/>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Motor symptoms are the most defining and well-recognized features of Parkinson's Disease. The classic presentation, often referred to as the "TRAP" features, includes:</a:t>
            </a:r>
          </a:p>
          <a:p>
            <a:pPr lvl="3"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Tremor </a:t>
            </a:r>
          </a:p>
          <a:p>
            <a:pPr lvl="3"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Rigidity</a:t>
            </a:r>
          </a:p>
          <a:p>
            <a:pPr lvl="3"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Akinesia or Bradykinesia</a:t>
            </a:r>
          </a:p>
          <a:p>
            <a:pPr lvl="3"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Postural Instability</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Non-motor symptoms are often present years before the onset of motor symptoms and significantly impact a patient's quality of life. These include Cognitive Impairment, Mood Disorders, and Sleep Disturbances.</a:t>
            </a:r>
          </a:p>
          <a:p>
            <a:pPr marL="0" algn="just">
              <a:buNone/>
            </a:pPr>
            <a:endParaRPr lang="en-US" sz="2400" dirty="0"/>
          </a:p>
          <a:p>
            <a:pPr marL="0" algn="just">
              <a:buNone/>
            </a:pPr>
            <a:endParaRPr lang="en-US" sz="22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4B24863-B2C6-E1DE-E1FF-FDB8AECE08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3400" y="2328781"/>
            <a:ext cx="2721987" cy="3244454"/>
          </a:xfrm>
          <a:prstGeom prst="rect">
            <a:avLst/>
          </a:prstGeom>
        </p:spPr>
      </p:pic>
      <p:graphicFrame>
        <p:nvGraphicFramePr>
          <p:cNvPr id="7" name="Diagram 6">
            <a:extLst>
              <a:ext uri="{FF2B5EF4-FFF2-40B4-BE49-F238E27FC236}">
                <a16:creationId xmlns:a16="http://schemas.microsoft.com/office/drawing/2014/main" id="{2BD7AE65-D7A6-D2F6-79CB-24E8CB63D851}"/>
              </a:ext>
            </a:extLst>
          </p:cNvPr>
          <p:cNvGraphicFramePr/>
          <p:nvPr>
            <p:extLst>
              <p:ext uri="{D42A27DB-BD31-4B8C-83A1-F6EECF244321}">
                <p14:modId xmlns:p14="http://schemas.microsoft.com/office/powerpoint/2010/main" val="1131291426"/>
              </p:ext>
            </p:extLst>
          </p:nvPr>
        </p:nvGraphicFramePr>
        <p:xfrm>
          <a:off x="8512404" y="1912007"/>
          <a:ext cx="3509914" cy="40780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7949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11A93-C45D-F94D-31CB-CCD73DF14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DD7E3B-6DE9-7BA9-AFBF-4FA80C4FEC13}"/>
              </a:ext>
            </a:extLst>
          </p:cNvPr>
          <p:cNvSpPr>
            <a:spLocks noGrp="1"/>
          </p:cNvSpPr>
          <p:nvPr>
            <p:ph type="title"/>
          </p:nvPr>
        </p:nvSpPr>
        <p:spPr>
          <a:xfrm>
            <a:off x="1066800" y="452487"/>
            <a:ext cx="10058400" cy="1274524"/>
          </a:xfrm>
        </p:spPr>
        <p:txBody>
          <a:bodyPr>
            <a:normAutofit/>
          </a:bodyPr>
          <a:lstStyle/>
          <a:p>
            <a:pPr algn="ctr"/>
            <a:r>
              <a:rPr lang="en-US" b="1" dirty="0">
                <a:latin typeface="Times New Roman" panose="02020603050405020304" pitchFamily="18" charset="0"/>
                <a:cs typeface="Times New Roman" panose="02020603050405020304" pitchFamily="18" charset="0"/>
              </a:rPr>
              <a:t>Quantifying Motor Symptoms</a:t>
            </a:r>
            <a:br>
              <a:rPr lang="en-US" b="1"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A. Devices</a:t>
            </a:r>
            <a:endParaRPr lang="en-IN" sz="40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8F08C5FF-CCDF-B5A2-7E69-5AD17F159C06}"/>
              </a:ext>
            </a:extLst>
          </p:cNvPr>
          <p:cNvGraphicFramePr>
            <a:graphicFrameLocks noGrp="1"/>
          </p:cNvGraphicFramePr>
          <p:nvPr/>
        </p:nvGraphicFramePr>
        <p:xfrm>
          <a:off x="386499" y="1832917"/>
          <a:ext cx="11236750" cy="4268680"/>
        </p:xfrm>
        <a:graphic>
          <a:graphicData uri="http://schemas.openxmlformats.org/drawingml/2006/table">
            <a:tbl>
              <a:tblPr>
                <a:tableStyleId>{793D81CF-94F2-401A-BA57-92F5A7B2D0C5}</a:tableStyleId>
              </a:tblPr>
              <a:tblGrid>
                <a:gridCol w="1733443">
                  <a:extLst>
                    <a:ext uri="{9D8B030D-6E8A-4147-A177-3AD203B41FA5}">
                      <a16:colId xmlns:a16="http://schemas.microsoft.com/office/drawing/2014/main" val="3399350420"/>
                    </a:ext>
                  </a:extLst>
                </a:gridCol>
                <a:gridCol w="2458379">
                  <a:extLst>
                    <a:ext uri="{9D8B030D-6E8A-4147-A177-3AD203B41FA5}">
                      <a16:colId xmlns:a16="http://schemas.microsoft.com/office/drawing/2014/main" val="633269893"/>
                    </a:ext>
                  </a:extLst>
                </a:gridCol>
                <a:gridCol w="7044928">
                  <a:extLst>
                    <a:ext uri="{9D8B030D-6E8A-4147-A177-3AD203B41FA5}">
                      <a16:colId xmlns:a16="http://schemas.microsoft.com/office/drawing/2014/main" val="1931654870"/>
                    </a:ext>
                  </a:extLst>
                </a:gridCol>
              </a:tblGrid>
              <a:tr h="559067">
                <a:tc>
                  <a:txBody>
                    <a:bodyPr/>
                    <a:lstStyle/>
                    <a:p>
                      <a:pPr algn="ctr" rtl="0" fontAlgn="b">
                        <a:buNone/>
                      </a:pPr>
                      <a:r>
                        <a:rPr lang="en-IN" sz="2000" b="1">
                          <a:effectLst/>
                        </a:rPr>
                        <a:t>Symptom Measured</a:t>
                      </a:r>
                      <a:endParaRPr lang="en-IN" sz="2000" b="1">
                        <a:effectLst/>
                        <a:latin typeface="Times New Roman" panose="02020603050405020304" pitchFamily="18" charset="0"/>
                        <a:cs typeface="Times New Roman" panose="02020603050405020304" pitchFamily="18" charset="0"/>
                      </a:endParaRPr>
                    </a:p>
                  </a:txBody>
                  <a:tcPr marL="13938" marR="13938" marT="9292" marB="9292" anchor="b">
                    <a:lnR w="12700" cap="flat" cmpd="sng" algn="ctr">
                      <a:solidFill>
                        <a:schemeClr val="tx1"/>
                      </a:solidFill>
                      <a:prstDash val="solid"/>
                      <a:round/>
                      <a:headEnd type="none" w="med" len="med"/>
                      <a:tailEnd type="none" w="med" len="med"/>
                    </a:lnR>
                  </a:tcPr>
                </a:tc>
                <a:tc>
                  <a:txBody>
                    <a:bodyPr/>
                    <a:lstStyle/>
                    <a:p>
                      <a:pPr algn="ctr" rtl="0" fontAlgn="b">
                        <a:buNone/>
                      </a:pPr>
                      <a:r>
                        <a:rPr lang="en-IN" sz="2000" b="1" dirty="0">
                          <a:effectLst/>
                        </a:rPr>
                        <a:t>Device Used</a:t>
                      </a:r>
                      <a:endParaRPr lang="en-IN" sz="2000" b="1" dirty="0">
                        <a:effectLst/>
                        <a:latin typeface="Times New Roman" panose="02020603050405020304" pitchFamily="18" charset="0"/>
                        <a:cs typeface="Times New Roman" panose="02020603050405020304" pitchFamily="18" charset="0"/>
                      </a:endParaRPr>
                    </a:p>
                  </a:txBody>
                  <a:tcPr marL="13938" marR="13938" marT="9292" marB="929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buNone/>
                      </a:pPr>
                      <a:r>
                        <a:rPr lang="en-IN" sz="2000" b="1" dirty="0">
                          <a:effectLst/>
                        </a:rPr>
                        <a:t>Measurement Detail</a:t>
                      </a:r>
                      <a:endParaRPr lang="en-IN" sz="2000" b="1" dirty="0">
                        <a:effectLst/>
                        <a:latin typeface="Times New Roman" panose="02020603050405020304" pitchFamily="18" charset="0"/>
                        <a:cs typeface="Times New Roman" panose="02020603050405020304" pitchFamily="18" charset="0"/>
                      </a:endParaRPr>
                    </a:p>
                  </a:txBody>
                  <a:tcPr marL="13938" marR="13938" marT="9292" marB="929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2218529"/>
                  </a:ext>
                </a:extLst>
              </a:tr>
              <a:tr h="823921">
                <a:tc>
                  <a:txBody>
                    <a:bodyPr/>
                    <a:lstStyle/>
                    <a:p>
                      <a:pPr algn="ctr" rtl="0" fontAlgn="b">
                        <a:buNone/>
                      </a:pPr>
                      <a:r>
                        <a:rPr lang="en-IN" sz="1800">
                          <a:effectLst/>
                        </a:rPr>
                        <a:t>Bradykinesia, Tremor, Gait</a:t>
                      </a:r>
                    </a:p>
                  </a:txBody>
                  <a:tcPr marL="13938" marR="13938" marT="9292" marB="9292" anchor="b">
                    <a:lnR w="12700" cap="flat" cmpd="sng" algn="ctr">
                      <a:solidFill>
                        <a:schemeClr val="tx1"/>
                      </a:solidFill>
                      <a:prstDash val="solid"/>
                      <a:round/>
                      <a:headEnd type="none" w="med" len="med"/>
                      <a:tailEnd type="none" w="med" len="med"/>
                    </a:lnR>
                  </a:tcPr>
                </a:tc>
                <a:tc>
                  <a:txBody>
                    <a:bodyPr/>
                    <a:lstStyle/>
                    <a:p>
                      <a:pPr algn="ctr" rtl="0" fontAlgn="b">
                        <a:buNone/>
                      </a:pPr>
                      <a:r>
                        <a:rPr lang="en-US" sz="1800" dirty="0">
                          <a:effectLst/>
                        </a:rPr>
                        <a:t>Wearable Inertial Sensors (Accelerometers/Gyroscopes)</a:t>
                      </a:r>
                    </a:p>
                  </a:txBody>
                  <a:tcPr marL="13938" marR="13938" marT="9292" marB="929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buNone/>
                      </a:pPr>
                      <a:r>
                        <a:rPr lang="en-US" sz="1800" dirty="0">
                          <a:effectLst/>
                        </a:rPr>
                        <a:t>Smartwatches or dedicated small sensors (similar to your Cap's EEG sensors) capture movement patterns, stride length, and cadence, providing quantitative metrics of slowness (bradykinesia) and tremor frequency/amplitude over 24 hours.</a:t>
                      </a:r>
                    </a:p>
                  </a:txBody>
                  <a:tcPr marL="13938" marR="13938" marT="9292" marB="929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9793108"/>
                  </a:ext>
                </a:extLst>
              </a:tr>
              <a:tr h="559067">
                <a:tc>
                  <a:txBody>
                    <a:bodyPr/>
                    <a:lstStyle/>
                    <a:p>
                      <a:pPr algn="ctr" rtl="0" fontAlgn="b">
                        <a:buNone/>
                      </a:pPr>
                      <a:r>
                        <a:rPr lang="en-IN" sz="1800">
                          <a:effectLst/>
                        </a:rPr>
                        <a:t>Gait and Balance</a:t>
                      </a:r>
                    </a:p>
                  </a:txBody>
                  <a:tcPr marL="13938" marR="13938" marT="9292" marB="9292" anchor="b">
                    <a:lnR w="12700" cap="flat" cmpd="sng" algn="ctr">
                      <a:solidFill>
                        <a:schemeClr val="tx1"/>
                      </a:solidFill>
                      <a:prstDash val="solid"/>
                      <a:round/>
                      <a:headEnd type="none" w="med" len="med"/>
                      <a:tailEnd type="none" w="med" len="med"/>
                    </a:lnR>
                  </a:tcPr>
                </a:tc>
                <a:tc>
                  <a:txBody>
                    <a:bodyPr/>
                    <a:lstStyle/>
                    <a:p>
                      <a:pPr algn="ctr" rtl="0" fontAlgn="b">
                        <a:buNone/>
                      </a:pPr>
                      <a:r>
                        <a:rPr lang="en-IN" sz="1800" dirty="0">
                          <a:effectLst/>
                        </a:rPr>
                        <a:t>Pressure-Sensitive Walkway Mats</a:t>
                      </a:r>
                    </a:p>
                  </a:txBody>
                  <a:tcPr marL="13938" marR="13938" marT="9292" marB="929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buNone/>
                      </a:pPr>
                      <a:r>
                        <a:rPr lang="en-US" sz="1800" dirty="0">
                          <a:effectLst/>
                        </a:rPr>
                        <a:t>These mats contain thousands of sensors that record foot pressure, step length, step width, and variability while the patient walks, allowing precise analysis of postural stability and gait metrics.</a:t>
                      </a:r>
                    </a:p>
                  </a:txBody>
                  <a:tcPr marL="13938" marR="13938" marT="9292" marB="929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7541057"/>
                  </a:ext>
                </a:extLst>
              </a:tr>
              <a:tr h="559067">
                <a:tc>
                  <a:txBody>
                    <a:bodyPr/>
                    <a:lstStyle/>
                    <a:p>
                      <a:pPr algn="ctr" rtl="0" fontAlgn="b">
                        <a:buNone/>
                      </a:pPr>
                      <a:r>
                        <a:rPr lang="en-IN" sz="1800">
                          <a:effectLst/>
                        </a:rPr>
                        <a:t>Tremor</a:t>
                      </a:r>
                    </a:p>
                  </a:txBody>
                  <a:tcPr marL="13938" marR="13938" marT="9292" marB="9292" anchor="b">
                    <a:lnR w="12700" cap="flat" cmpd="sng" algn="ctr">
                      <a:solidFill>
                        <a:schemeClr val="tx1"/>
                      </a:solidFill>
                      <a:prstDash val="solid"/>
                      <a:round/>
                      <a:headEnd type="none" w="med" len="med"/>
                      <a:tailEnd type="none" w="med" len="med"/>
                    </a:lnR>
                  </a:tcPr>
                </a:tc>
                <a:tc>
                  <a:txBody>
                    <a:bodyPr/>
                    <a:lstStyle/>
                    <a:p>
                      <a:pPr algn="ctr" rtl="0" fontAlgn="b">
                        <a:buNone/>
                      </a:pPr>
                      <a:r>
                        <a:rPr lang="en-IN" sz="1800" dirty="0">
                          <a:effectLst/>
                        </a:rPr>
                        <a:t>Electromyography (EMG)</a:t>
                      </a:r>
                    </a:p>
                  </a:txBody>
                  <a:tcPr marL="13938" marR="13938" marT="9292" marB="929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buNone/>
                      </a:pPr>
                      <a:r>
                        <a:rPr lang="en-US" sz="1800" dirty="0">
                          <a:effectLst/>
                        </a:rPr>
                        <a:t>Measures the electrical activity of muscles. It helps differentiate resting tremor (characteristic of PD) from other types of tremors by analyzing muscle bursts during rest versus action.</a:t>
                      </a:r>
                    </a:p>
                  </a:txBody>
                  <a:tcPr marL="13938" marR="13938" marT="9292" marB="929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6895723"/>
                  </a:ext>
                </a:extLst>
              </a:tr>
              <a:tr h="559067">
                <a:tc>
                  <a:txBody>
                    <a:bodyPr/>
                    <a:lstStyle/>
                    <a:p>
                      <a:pPr algn="ctr" rtl="0" fontAlgn="b">
                        <a:buNone/>
                      </a:pPr>
                      <a:r>
                        <a:rPr lang="en-IN" sz="1800">
                          <a:effectLst/>
                        </a:rPr>
                        <a:t>Fine Motor Skills</a:t>
                      </a:r>
                    </a:p>
                  </a:txBody>
                  <a:tcPr marL="13938" marR="13938" marT="9292" marB="9292" anchor="b">
                    <a:lnR w="12700" cap="flat" cmpd="sng" algn="ctr">
                      <a:solidFill>
                        <a:schemeClr val="tx1"/>
                      </a:solidFill>
                      <a:prstDash val="solid"/>
                      <a:round/>
                      <a:headEnd type="none" w="med" len="med"/>
                      <a:tailEnd type="none" w="med" len="med"/>
                    </a:lnR>
                  </a:tcPr>
                </a:tc>
                <a:tc>
                  <a:txBody>
                    <a:bodyPr/>
                    <a:lstStyle/>
                    <a:p>
                      <a:pPr algn="ctr" rtl="0" fontAlgn="b">
                        <a:buNone/>
                      </a:pPr>
                      <a:r>
                        <a:rPr lang="en-IN" sz="1800" dirty="0">
                          <a:effectLst/>
                        </a:rPr>
                        <a:t>Digitizers/Computerized Tapping Tests</a:t>
                      </a:r>
                    </a:p>
                  </a:txBody>
                  <a:tcPr marL="13938" marR="13938" marT="9292" marB="929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buNone/>
                      </a:pPr>
                      <a:r>
                        <a:rPr lang="en-US" sz="1800" dirty="0">
                          <a:effectLst/>
                        </a:rPr>
                        <a:t>Patients tap on a screen or plate, and the device measures the speed, force, and variability of the taps to quantify fine motor bradykinesia and dexterity.</a:t>
                      </a:r>
                    </a:p>
                  </a:txBody>
                  <a:tcPr marL="13938" marR="13938" marT="9292" marB="929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2226965"/>
                  </a:ext>
                </a:extLst>
              </a:tr>
            </a:tbl>
          </a:graphicData>
        </a:graphic>
      </p:graphicFrame>
    </p:spTree>
    <p:extLst>
      <p:ext uri="{BB962C8B-B14F-4D97-AF65-F5344CB8AC3E}">
        <p14:creationId xmlns:p14="http://schemas.microsoft.com/office/powerpoint/2010/main" val="4143581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76FBC-E73B-2DD6-54C8-2C2C9705F9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3322C-B52B-473B-C3F6-B9AC23585D7B}"/>
              </a:ext>
            </a:extLst>
          </p:cNvPr>
          <p:cNvSpPr>
            <a:spLocks noGrp="1"/>
          </p:cNvSpPr>
          <p:nvPr>
            <p:ph type="title"/>
          </p:nvPr>
        </p:nvSpPr>
        <p:spPr>
          <a:xfrm>
            <a:off x="1066800" y="452487"/>
            <a:ext cx="10058400" cy="1274524"/>
          </a:xfrm>
        </p:spPr>
        <p:txBody>
          <a:bodyPr>
            <a:normAutofit/>
          </a:bodyPr>
          <a:lstStyle/>
          <a:p>
            <a:pPr algn="ctr"/>
            <a:r>
              <a:rPr lang="en-US" b="1" dirty="0">
                <a:latin typeface="Times New Roman" panose="02020603050405020304" pitchFamily="18" charset="0"/>
                <a:cs typeface="Times New Roman" panose="02020603050405020304" pitchFamily="18" charset="0"/>
              </a:rPr>
              <a:t>Quantifying Motor Symptoms</a:t>
            </a:r>
            <a:br>
              <a:rPr lang="en-US" b="1"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B. Clinical Tests and Rating Scales</a:t>
            </a:r>
            <a:endParaRPr lang="en-IN" sz="40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78FB27F-3363-987F-F1AC-6D7F186E1EED}"/>
              </a:ext>
            </a:extLst>
          </p:cNvPr>
          <p:cNvSpPr/>
          <p:nvPr/>
        </p:nvSpPr>
        <p:spPr>
          <a:xfrm>
            <a:off x="113122" y="1847654"/>
            <a:ext cx="5982877" cy="442117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sz="2400" b="1" dirty="0">
              <a:latin typeface="Times New Roman" panose="02020603050405020304" pitchFamily="18" charset="0"/>
              <a:cs typeface="Times New Roman" panose="02020603050405020304" pitchFamily="18" charset="0"/>
            </a:endParaRPr>
          </a:p>
          <a:p>
            <a:pPr algn="ctr"/>
            <a:endParaRPr lang="en-IN" sz="2400" b="1" dirty="0">
              <a:latin typeface="Times New Roman" panose="02020603050405020304" pitchFamily="18" charset="0"/>
              <a:cs typeface="Times New Roman" panose="02020603050405020304" pitchFamily="18" charset="0"/>
            </a:endParaRPr>
          </a:p>
          <a:p>
            <a:pPr algn="ctr"/>
            <a:r>
              <a:rPr lang="en-IN" sz="2400" b="1" dirty="0">
                <a:latin typeface="Times New Roman" panose="02020603050405020304" pitchFamily="18" charset="0"/>
                <a:cs typeface="Times New Roman" panose="02020603050405020304" pitchFamily="18" charset="0"/>
              </a:rPr>
              <a:t>Standardized Rating Scale</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MDS-UPDRS Part III:</a:t>
            </a:r>
          </a:p>
          <a:p>
            <a:pPr lvl="0" algn="just"/>
            <a:r>
              <a:rPr lang="en-IN" dirty="0">
                <a:latin typeface="Times New Roman" panose="02020603050405020304" pitchFamily="18" charset="0"/>
                <a:cs typeface="Times New Roman" panose="02020603050405020304" pitchFamily="18" charset="0"/>
              </a:rPr>
              <a:t>The MDS-UPDRS scale is the universally accepted standard for quantifying PD motor severity.</a:t>
            </a:r>
          </a:p>
          <a:p>
            <a:pPr lvl="1" algn="just"/>
            <a:r>
              <a:rPr lang="en-IN" b="1" dirty="0">
                <a:latin typeface="Times New Roman" panose="02020603050405020304" pitchFamily="18" charset="0"/>
                <a:cs typeface="Times New Roman" panose="02020603050405020304" pitchFamily="18" charset="0"/>
              </a:rPr>
              <a:t>Quantification:</a:t>
            </a:r>
            <a:r>
              <a:rPr lang="en-IN" dirty="0">
                <a:latin typeface="Times New Roman" panose="02020603050405020304" pitchFamily="18" charset="0"/>
                <a:cs typeface="Times New Roman" panose="02020603050405020304" pitchFamily="18" charset="0"/>
              </a:rPr>
              <a:t> The clinician observes the patient performing 18 specific tasks, each item is scored on an ordinal scale (0 to 4), where 0 is "normal" and 4 is "severe." The total possible score for Part III is 132. The Change in Part III score from baseline is the primary outcome measure for clinical trials.</a:t>
            </a:r>
          </a:p>
          <a:p>
            <a:pPr lvl="1" algn="just"/>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t>Hoehn &amp; Yahr (H&amp;Y) Scale:</a:t>
            </a:r>
            <a:endParaRPr lang="en-US" dirty="0"/>
          </a:p>
          <a:p>
            <a:r>
              <a:rPr lang="en-US" b="1" dirty="0"/>
              <a:t>Quantification:</a:t>
            </a:r>
            <a:r>
              <a:rPr lang="en-US" dirty="0"/>
              <a:t> It uses a scale from 1 to 5 in order to classify the overall physical severity and functional impairment of Parkinson's Disease.</a:t>
            </a:r>
          </a:p>
          <a:p>
            <a:endParaRPr lang="en-US" dirty="0"/>
          </a:p>
          <a:p>
            <a:pPr algn="just"/>
            <a:endParaRPr lang="en-IN"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6E3CEB40-1897-B87E-BD47-E57A7914AF28}"/>
              </a:ext>
            </a:extLst>
          </p:cNvPr>
          <p:cNvSpPr/>
          <p:nvPr/>
        </p:nvSpPr>
        <p:spPr>
          <a:xfrm>
            <a:off x="6202837" y="1847654"/>
            <a:ext cx="5797485" cy="442117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sz="2400" b="1" dirty="0"/>
          </a:p>
          <a:p>
            <a:pPr algn="ctr"/>
            <a:r>
              <a:rPr lang="en-IN" sz="2400" b="1" dirty="0"/>
              <a:t>Performance-Based Functional Tests </a:t>
            </a:r>
            <a:endParaRPr lang="en-IN" b="1" dirty="0"/>
          </a:p>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Timed Up-and-Go (TUG) Test:</a:t>
            </a:r>
            <a:endParaRPr lang="en-IN" sz="2400" dirty="0">
              <a:latin typeface="Times New Roman" panose="02020603050405020304" pitchFamily="18" charset="0"/>
              <a:cs typeface="Times New Roman" panose="02020603050405020304" pitchFamily="18" charset="0"/>
            </a:endParaRPr>
          </a:p>
          <a:p>
            <a:pPr lvl="1" algn="just"/>
            <a:r>
              <a:rPr lang="en-IN" b="1" dirty="0">
                <a:latin typeface="Times New Roman" panose="02020603050405020304" pitchFamily="18" charset="0"/>
                <a:cs typeface="Times New Roman" panose="02020603050405020304" pitchFamily="18" charset="0"/>
              </a:rPr>
              <a:t>Quantification:</a:t>
            </a:r>
            <a:r>
              <a:rPr lang="en-IN" dirty="0">
                <a:latin typeface="Times New Roman" panose="02020603050405020304" pitchFamily="18" charset="0"/>
                <a:cs typeface="Times New Roman" panose="02020603050405020304" pitchFamily="18" charset="0"/>
              </a:rPr>
              <a:t> Measures the time (in seconds) a patient takes to rise from a chair, walk three meters, turn around, walk back, and sit down. It is a rapid measure of functional mobility, balance, and gait speed.</a:t>
            </a:r>
          </a:p>
          <a:p>
            <a:pPr lvl="1" algn="just"/>
            <a:endParaRPr lang="en-IN" sz="2400"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Gait Speed/Stride Length:</a:t>
            </a:r>
            <a:endParaRPr lang="en-IN" sz="2400" dirty="0">
              <a:latin typeface="Times New Roman" panose="02020603050405020304" pitchFamily="18" charset="0"/>
              <a:cs typeface="Times New Roman" panose="02020603050405020304" pitchFamily="18" charset="0"/>
            </a:endParaRPr>
          </a:p>
          <a:p>
            <a:pPr lvl="1" algn="just"/>
            <a:r>
              <a:rPr lang="en-IN" b="1" dirty="0">
                <a:latin typeface="Times New Roman" panose="02020603050405020304" pitchFamily="18" charset="0"/>
                <a:cs typeface="Times New Roman" panose="02020603050405020304" pitchFamily="18" charset="0"/>
              </a:rPr>
              <a:t>Quantification:</a:t>
            </a:r>
            <a:r>
              <a:rPr lang="en-IN" dirty="0">
                <a:latin typeface="Times New Roman" panose="02020603050405020304" pitchFamily="18" charset="0"/>
                <a:cs typeface="Times New Roman" panose="02020603050405020304" pitchFamily="18" charset="0"/>
              </a:rPr>
              <a:t> Often measured during the TUG test or on a dedicated walkway. Speed (meters/second) and stride length (meters) are critical indicators of motor impairment and are highly sensitive to treatment effects.</a:t>
            </a:r>
          </a:p>
          <a:p>
            <a:pPr lvl="1" algn="just"/>
            <a:endParaRPr lang="en-IN" dirty="0">
              <a:latin typeface="Times New Roman" panose="02020603050405020304" pitchFamily="18" charset="0"/>
              <a:cs typeface="Times New Roman" panose="02020603050405020304" pitchFamily="18" charset="0"/>
            </a:endParaRPr>
          </a:p>
          <a:p>
            <a:pPr lvl="1" algn="just"/>
            <a:r>
              <a:rPr lang="en-IN" dirty="0">
                <a:latin typeface="Times New Roman" panose="02020603050405020304" pitchFamily="18" charset="0"/>
                <a:cs typeface="Times New Roman" panose="02020603050405020304" pitchFamily="18" charset="0"/>
              </a:rPr>
              <a:t>These two tests will serve as our secondary end-points.</a:t>
            </a:r>
          </a:p>
          <a:p>
            <a:r>
              <a:rPr lang="en-IN" dirty="0"/>
              <a:t> </a:t>
            </a:r>
            <a:endParaRPr lang="en-IN" sz="2400" dirty="0"/>
          </a:p>
          <a:p>
            <a:pPr algn="ct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0792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51571-BE78-5F6C-C58A-8E763BC8D8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293823-30D7-918F-4C6E-AE128CA1D143}"/>
              </a:ext>
            </a:extLst>
          </p:cNvPr>
          <p:cNvSpPr>
            <a:spLocks noGrp="1"/>
          </p:cNvSpPr>
          <p:nvPr>
            <p:ph type="title"/>
          </p:nvPr>
        </p:nvSpPr>
        <p:spPr>
          <a:xfrm>
            <a:off x="1066800" y="778703"/>
            <a:ext cx="10058400" cy="854040"/>
          </a:xfrm>
        </p:spPr>
        <p:txBody>
          <a:bodyPr/>
          <a:lstStyle/>
          <a:p>
            <a:pPr algn="ctr"/>
            <a:r>
              <a:rPr lang="en-US" b="1" dirty="0"/>
              <a:t>Current Treatment Strategies</a:t>
            </a:r>
            <a:endParaRPr lang="en-IN" b="1" dirty="0"/>
          </a:p>
        </p:txBody>
      </p:sp>
      <p:graphicFrame>
        <p:nvGraphicFramePr>
          <p:cNvPr id="6" name="Table 5">
            <a:extLst>
              <a:ext uri="{FF2B5EF4-FFF2-40B4-BE49-F238E27FC236}">
                <a16:creationId xmlns:a16="http://schemas.microsoft.com/office/drawing/2014/main" id="{E8995703-C5B8-A6D9-2C54-8831D77B6028}"/>
              </a:ext>
            </a:extLst>
          </p:cNvPr>
          <p:cNvGraphicFramePr>
            <a:graphicFrameLocks noGrp="1"/>
          </p:cNvGraphicFramePr>
          <p:nvPr>
            <p:extLst>
              <p:ext uri="{D42A27DB-BD31-4B8C-83A1-F6EECF244321}">
                <p14:modId xmlns:p14="http://schemas.microsoft.com/office/powerpoint/2010/main" val="3972452900"/>
              </p:ext>
            </p:extLst>
          </p:nvPr>
        </p:nvGraphicFramePr>
        <p:xfrm>
          <a:off x="886119" y="1808556"/>
          <a:ext cx="10614580" cy="3537439"/>
        </p:xfrm>
        <a:graphic>
          <a:graphicData uri="http://schemas.openxmlformats.org/drawingml/2006/table">
            <a:tbl>
              <a:tblPr>
                <a:tableStyleId>{793D81CF-94F2-401A-BA57-92F5A7B2D0C5}</a:tableStyleId>
              </a:tblPr>
              <a:tblGrid>
                <a:gridCol w="2653645">
                  <a:extLst>
                    <a:ext uri="{9D8B030D-6E8A-4147-A177-3AD203B41FA5}">
                      <a16:colId xmlns:a16="http://schemas.microsoft.com/office/drawing/2014/main" val="2077782507"/>
                    </a:ext>
                  </a:extLst>
                </a:gridCol>
                <a:gridCol w="2653645">
                  <a:extLst>
                    <a:ext uri="{9D8B030D-6E8A-4147-A177-3AD203B41FA5}">
                      <a16:colId xmlns:a16="http://schemas.microsoft.com/office/drawing/2014/main" val="176261439"/>
                    </a:ext>
                  </a:extLst>
                </a:gridCol>
                <a:gridCol w="2653645">
                  <a:extLst>
                    <a:ext uri="{9D8B030D-6E8A-4147-A177-3AD203B41FA5}">
                      <a16:colId xmlns:a16="http://schemas.microsoft.com/office/drawing/2014/main" val="2535519307"/>
                    </a:ext>
                  </a:extLst>
                </a:gridCol>
                <a:gridCol w="2653645">
                  <a:extLst>
                    <a:ext uri="{9D8B030D-6E8A-4147-A177-3AD203B41FA5}">
                      <a16:colId xmlns:a16="http://schemas.microsoft.com/office/drawing/2014/main" val="2738972459"/>
                    </a:ext>
                  </a:extLst>
                </a:gridCol>
              </a:tblGrid>
              <a:tr h="310268">
                <a:tc>
                  <a:txBody>
                    <a:bodyPr/>
                    <a:lstStyle/>
                    <a:p>
                      <a:pPr algn="ctr">
                        <a:buNone/>
                      </a:pPr>
                      <a:r>
                        <a:rPr lang="en-IN" sz="1600" b="1" dirty="0"/>
                        <a:t>Treatment Strategy</a:t>
                      </a:r>
                    </a:p>
                  </a:txBody>
                  <a:tcPr marL="42795" marR="42795" marT="21397" marB="213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b="1" dirty="0"/>
                        <a:t>Mechanism of Action</a:t>
                      </a:r>
                    </a:p>
                  </a:txBody>
                  <a:tcPr marL="42795" marR="42795" marT="21397" marB="213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b="1" dirty="0"/>
                        <a:t>Targeted H&amp;Y Scale Patients</a:t>
                      </a:r>
                    </a:p>
                  </a:txBody>
                  <a:tcPr marL="42795" marR="42795" marT="21397" marB="213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b="1" dirty="0"/>
                        <a:t>Key Downside and Limitations</a:t>
                      </a:r>
                    </a:p>
                  </a:txBody>
                  <a:tcPr marL="42795" marR="42795" marT="21397" marB="213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8808598"/>
                  </a:ext>
                </a:extLst>
              </a:tr>
              <a:tr h="808462">
                <a:tc>
                  <a:txBody>
                    <a:bodyPr/>
                    <a:lstStyle/>
                    <a:p>
                      <a:pPr algn="ctr">
                        <a:buNone/>
                      </a:pPr>
                      <a:r>
                        <a:rPr lang="en-IN" sz="1600" b="0" dirty="0">
                          <a:solidFill>
                            <a:schemeClr val="tx1"/>
                          </a:solidFill>
                          <a:latin typeface="Times New Roman" panose="02020603050405020304" pitchFamily="18" charset="0"/>
                          <a:cs typeface="Times New Roman" panose="02020603050405020304" pitchFamily="18" charset="0"/>
                        </a:rPr>
                        <a:t>1. Levodopa (Pharmacotherapy)</a:t>
                      </a:r>
                    </a:p>
                  </a:txBody>
                  <a:tcPr marL="42795" marR="42795" marT="21397" marB="213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50" dirty="0">
                          <a:solidFill>
                            <a:schemeClr val="tx1"/>
                          </a:solidFill>
                          <a:latin typeface="Times New Roman" panose="02020603050405020304" pitchFamily="18" charset="0"/>
                          <a:cs typeface="Times New Roman" panose="02020603050405020304" pitchFamily="18" charset="0"/>
                        </a:rPr>
                        <a:t>Crosses the blood-brain barrier and is converted to dopamine in the brain, replacing the deficient neurotransmitter and restoring motor function.</a:t>
                      </a:r>
                    </a:p>
                  </a:txBody>
                  <a:tcPr marL="42795" marR="42795" marT="21397" marB="213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b="0" dirty="0">
                          <a:solidFill>
                            <a:schemeClr val="tx1"/>
                          </a:solidFill>
                          <a:latin typeface="Times New Roman" panose="02020603050405020304" pitchFamily="18" charset="0"/>
                          <a:cs typeface="Times New Roman" panose="02020603050405020304" pitchFamily="18" charset="0"/>
                        </a:rPr>
                        <a:t>H&amp;Y I-II</a:t>
                      </a:r>
                    </a:p>
                  </a:txBody>
                  <a:tcPr marL="42795" marR="42795" marT="21397" marB="213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50" b="0" dirty="0">
                          <a:solidFill>
                            <a:schemeClr val="tx1"/>
                          </a:solidFill>
                          <a:latin typeface="Times New Roman" panose="02020603050405020304" pitchFamily="18" charset="0"/>
                          <a:cs typeface="Times New Roman" panose="02020603050405020304" pitchFamily="18" charset="0"/>
                        </a:rPr>
                        <a:t>Long-term use leads to Motor Fluctuations and Dyskinesias reducing quality of life.</a:t>
                      </a:r>
                    </a:p>
                  </a:txBody>
                  <a:tcPr marL="42795" marR="42795" marT="21397" marB="213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0843916"/>
                  </a:ext>
                </a:extLst>
              </a:tr>
              <a:tr h="1084183">
                <a:tc>
                  <a:txBody>
                    <a:bodyPr/>
                    <a:lstStyle/>
                    <a:p>
                      <a:pPr algn="ctr">
                        <a:buNone/>
                      </a:pPr>
                      <a:r>
                        <a:rPr lang="en-US" sz="1600" b="0" dirty="0">
                          <a:solidFill>
                            <a:schemeClr val="tx1"/>
                          </a:solidFill>
                          <a:latin typeface="Times New Roman" panose="02020603050405020304" pitchFamily="18" charset="0"/>
                          <a:cs typeface="Times New Roman" panose="02020603050405020304" pitchFamily="18" charset="0"/>
                        </a:rPr>
                        <a:t>2. Deep Brain Stimulation (DBS)</a:t>
                      </a:r>
                    </a:p>
                  </a:txBody>
                  <a:tcPr marL="42795" marR="42795" marT="21397" marB="213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350" dirty="0">
                          <a:solidFill>
                            <a:schemeClr val="tx1"/>
                          </a:solidFill>
                          <a:latin typeface="Times New Roman" panose="02020603050405020304" pitchFamily="18" charset="0"/>
                          <a:cs typeface="Times New Roman" panose="02020603050405020304" pitchFamily="18" charset="0"/>
                        </a:rPr>
                        <a:t>Involves surgically implanting electrodes into specific brain targets, blocking abnormal signals that cause motor symptoms.</a:t>
                      </a:r>
                    </a:p>
                  </a:txBody>
                  <a:tcPr marL="42795" marR="42795" marT="21397" marB="213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800" b="0" dirty="0">
                          <a:solidFill>
                            <a:schemeClr val="tx1"/>
                          </a:solidFill>
                          <a:latin typeface="Times New Roman" panose="02020603050405020304" pitchFamily="18" charset="0"/>
                          <a:cs typeface="Times New Roman" panose="02020603050405020304" pitchFamily="18" charset="0"/>
                        </a:rPr>
                        <a:t>H&amp;Y III–IV</a:t>
                      </a:r>
                    </a:p>
                  </a:txBody>
                  <a:tcPr marL="42795" marR="42795" marT="21397" marB="213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50" b="0" dirty="0">
                          <a:solidFill>
                            <a:schemeClr val="tx1"/>
                          </a:solidFill>
                          <a:latin typeface="Times New Roman" panose="02020603050405020304" pitchFamily="18" charset="0"/>
                          <a:cs typeface="Times New Roman" panose="02020603050405020304" pitchFamily="18" charset="0"/>
                        </a:rPr>
                        <a:t>Highly invasive surgical procedure with risks of Hemorrhage, Infection, and device malfunction. High initial cost and requires constant battery replacement/reprogramming.</a:t>
                      </a:r>
                    </a:p>
                  </a:txBody>
                  <a:tcPr marL="42795" marR="42795" marT="21397" marB="213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11121"/>
                  </a:ext>
                </a:extLst>
              </a:tr>
              <a:tr h="777550">
                <a:tc>
                  <a:txBody>
                    <a:bodyPr/>
                    <a:lstStyle/>
                    <a:p>
                      <a:pPr algn="ctr">
                        <a:buNone/>
                      </a:pPr>
                      <a:r>
                        <a:rPr lang="en-IN" sz="1600" b="0" dirty="0">
                          <a:solidFill>
                            <a:schemeClr val="tx1"/>
                          </a:solidFill>
                          <a:latin typeface="Times New Roman" panose="02020603050405020304" pitchFamily="18" charset="0"/>
                          <a:cs typeface="Times New Roman" panose="02020603050405020304" pitchFamily="18" charset="0"/>
                        </a:rPr>
                        <a:t>3. Transcranial Magnetic Stimulation (TMS)</a:t>
                      </a:r>
                    </a:p>
                  </a:txBody>
                  <a:tcPr marL="42795" marR="42795" marT="21397" marB="213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50" dirty="0">
                          <a:solidFill>
                            <a:schemeClr val="tx1"/>
                          </a:solidFill>
                          <a:latin typeface="Times New Roman" panose="02020603050405020304" pitchFamily="18" charset="0"/>
                          <a:cs typeface="Times New Roman" panose="02020603050405020304" pitchFamily="18" charset="0"/>
                        </a:rPr>
                        <a:t>Non-invasive coils deliver repetitive magnetic pulses to the motor cortex, inducing weak electrical currents to modulate neural activity and balance excitatory/inhibitory circuits.</a:t>
                      </a:r>
                    </a:p>
                  </a:txBody>
                  <a:tcPr marL="42795" marR="42795" marT="21397" marB="213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800" b="0" dirty="0">
                          <a:solidFill>
                            <a:schemeClr val="tx1"/>
                          </a:solidFill>
                          <a:latin typeface="Times New Roman" panose="02020603050405020304" pitchFamily="18" charset="0"/>
                          <a:cs typeface="Times New Roman" panose="02020603050405020304" pitchFamily="18" charset="0"/>
                        </a:rPr>
                        <a:t>H&amp;Y II-III</a:t>
                      </a:r>
                    </a:p>
                  </a:txBody>
                  <a:tcPr marL="42795" marR="42795" marT="21397" marB="213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50" b="0" dirty="0">
                          <a:solidFill>
                            <a:schemeClr val="tx1"/>
                          </a:solidFill>
                          <a:latin typeface="Times New Roman" panose="02020603050405020304" pitchFamily="18" charset="0"/>
                          <a:cs typeface="Times New Roman" panose="02020603050405020304" pitchFamily="18" charset="0"/>
                        </a:rPr>
                        <a:t>Requires frequent, clinic-based appointments. System is bulky and expensive, limiting patient access and long-term compliance.</a:t>
                      </a:r>
                    </a:p>
                  </a:txBody>
                  <a:tcPr marL="42795" marR="42795" marT="21397" marB="213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8501402"/>
                  </a:ext>
                </a:extLst>
              </a:tr>
            </a:tbl>
          </a:graphicData>
        </a:graphic>
      </p:graphicFrame>
      <p:sp>
        <p:nvSpPr>
          <p:cNvPr id="7" name="Rectangle 6">
            <a:extLst>
              <a:ext uri="{FF2B5EF4-FFF2-40B4-BE49-F238E27FC236}">
                <a16:creationId xmlns:a16="http://schemas.microsoft.com/office/drawing/2014/main" id="{9BE088B6-BEA1-4F06-EEDF-DC10373CB230}"/>
              </a:ext>
            </a:extLst>
          </p:cNvPr>
          <p:cNvSpPr/>
          <p:nvPr/>
        </p:nvSpPr>
        <p:spPr>
          <a:xfrm>
            <a:off x="141402" y="5521808"/>
            <a:ext cx="11774078" cy="7070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Unmet Clinical Need: Levodopa is ineffective for advanced patients, DBS is expensive, invasive and presents risks while TMS requires frequent visits to clinics with bulky systems. We try to solve all problems at once.</a:t>
            </a:r>
          </a:p>
        </p:txBody>
      </p:sp>
    </p:spTree>
    <p:extLst>
      <p:ext uri="{BB962C8B-B14F-4D97-AF65-F5344CB8AC3E}">
        <p14:creationId xmlns:p14="http://schemas.microsoft.com/office/powerpoint/2010/main" val="274335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0565C-7345-8956-3839-C43F9FA32D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0FFD05-5EE5-98E3-0273-3B9A5C9F7CCC}"/>
              </a:ext>
            </a:extLst>
          </p:cNvPr>
          <p:cNvSpPr>
            <a:spLocks noGrp="1"/>
          </p:cNvSpPr>
          <p:nvPr>
            <p:ph type="title"/>
          </p:nvPr>
        </p:nvSpPr>
        <p:spPr>
          <a:xfrm>
            <a:off x="1066800" y="778703"/>
            <a:ext cx="10058400" cy="854040"/>
          </a:xfrm>
        </p:spPr>
        <p:txBody>
          <a:bodyPr/>
          <a:lstStyle/>
          <a:p>
            <a:pPr algn="ctr"/>
            <a:r>
              <a:rPr lang="en-US" b="1" dirty="0"/>
              <a:t>Proposed Novel Therapeutic</a:t>
            </a:r>
            <a:endParaRPr lang="en-IN" b="1" dirty="0"/>
          </a:p>
        </p:txBody>
      </p:sp>
      <p:sp>
        <p:nvSpPr>
          <p:cNvPr id="4" name="TextBox 3">
            <a:extLst>
              <a:ext uri="{FF2B5EF4-FFF2-40B4-BE49-F238E27FC236}">
                <a16:creationId xmlns:a16="http://schemas.microsoft.com/office/drawing/2014/main" id="{A581A523-7E09-F03B-7215-E9F88C1071FE}"/>
              </a:ext>
            </a:extLst>
          </p:cNvPr>
          <p:cNvSpPr txBox="1"/>
          <p:nvPr/>
        </p:nvSpPr>
        <p:spPr>
          <a:xfrm>
            <a:off x="294588" y="1831980"/>
            <a:ext cx="6313602" cy="4247317"/>
          </a:xfrm>
          <a:prstGeom prst="rect">
            <a:avLst/>
          </a:prstGeom>
          <a:noFill/>
        </p:spPr>
        <p:txBody>
          <a:bodyPr wrap="square">
            <a:spAutoFit/>
          </a:bodyPr>
          <a:lstStyle/>
          <a:p>
            <a:pPr algn="just"/>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proposed therapeutic, a </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wearable closed-loop transcranial magnetic neuromodulation cap</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is a designed to improve the motor symptoms observed in patients of Parkinson’s Disease. </a:t>
            </a:r>
            <a:r>
              <a:rPr lang="en-US" dirty="0">
                <a:latin typeface="Times New Roman" panose="02020603050405020304" pitchFamily="18" charset="0"/>
                <a:cs typeface="Times New Roman" panose="02020603050405020304" pitchFamily="18" charset="0"/>
              </a:rPr>
              <a:t>The flexible cap integrates an array of miniature magnetic coils and EEG sensors to enable closed-loop adaptive stimulation based on real-time neural feedback. Our therapeutic works as a closed-loop system using EEG data in real-time to dynamically adapt provided stimulation. </a:t>
            </a:r>
          </a:p>
          <a:p>
            <a:pPr algn="just"/>
            <a:r>
              <a:rPr lang="en-US" dirty="0">
                <a:latin typeface="Times New Roman" panose="02020603050405020304" pitchFamily="18" charset="0"/>
                <a:cs typeface="Times New Roman" panose="02020603050405020304" pitchFamily="18" charset="0"/>
              </a:rPr>
              <a:t>This back-and-forth loop allows real-time adjustment of stimulation while continuously monitoring the brain’s response.</a:t>
            </a:r>
          </a:p>
          <a:p>
            <a:pPr algn="just"/>
            <a:r>
              <a:rPr lang="en-US" dirty="0">
                <a:latin typeface="Times New Roman" panose="02020603050405020304" pitchFamily="18" charset="0"/>
                <a:cs typeface="Times New Roman" panose="02020603050405020304" pitchFamily="18" charset="0"/>
              </a:rPr>
              <a:t>However, electronically, if the magnetic field created is very strong, it can interfere with the EEG signals. Hence, while device designing, we can add a Blanking Amplifier that is trained to shut the EEG off for a few seconds when it senses that the magnetic field is causing a hinderance in the EEG signals.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B9A1E4EE-A6FD-68FB-9C56-1F377941BFC9}"/>
              </a:ext>
            </a:extLst>
          </p:cNvPr>
          <p:cNvPicPr>
            <a:picLocks noChangeAspect="1"/>
          </p:cNvPicPr>
          <p:nvPr/>
        </p:nvPicPr>
        <p:blipFill>
          <a:blip r:embed="rId2"/>
          <a:stretch>
            <a:fillRect/>
          </a:stretch>
        </p:blipFill>
        <p:spPr>
          <a:xfrm>
            <a:off x="6704286" y="2130457"/>
            <a:ext cx="5193126" cy="3298390"/>
          </a:xfrm>
          <a:prstGeom prst="rect">
            <a:avLst/>
          </a:prstGeom>
        </p:spPr>
      </p:pic>
    </p:spTree>
    <p:extLst>
      <p:ext uri="{BB962C8B-B14F-4D97-AF65-F5344CB8AC3E}">
        <p14:creationId xmlns:p14="http://schemas.microsoft.com/office/powerpoint/2010/main" val="3359184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53CC2-D932-5900-52E2-94E7CB0031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4FA796-B09A-353D-7440-9627545B3339}"/>
              </a:ext>
            </a:extLst>
          </p:cNvPr>
          <p:cNvSpPr>
            <a:spLocks noGrp="1"/>
          </p:cNvSpPr>
          <p:nvPr>
            <p:ph type="title"/>
          </p:nvPr>
        </p:nvSpPr>
        <p:spPr>
          <a:xfrm>
            <a:off x="1066800" y="778703"/>
            <a:ext cx="10058400" cy="854040"/>
          </a:xfrm>
        </p:spPr>
        <p:txBody>
          <a:bodyPr/>
          <a:lstStyle/>
          <a:p>
            <a:pPr algn="ctr"/>
            <a:r>
              <a:rPr lang="en-US" b="1" dirty="0"/>
              <a:t>Proposed Novel Therapeutic</a:t>
            </a:r>
            <a:endParaRPr lang="en-IN" b="1" dirty="0"/>
          </a:p>
        </p:txBody>
      </p:sp>
      <p:graphicFrame>
        <p:nvGraphicFramePr>
          <p:cNvPr id="3" name="Diagram 2">
            <a:extLst>
              <a:ext uri="{FF2B5EF4-FFF2-40B4-BE49-F238E27FC236}">
                <a16:creationId xmlns:a16="http://schemas.microsoft.com/office/drawing/2014/main" id="{2C4E7344-218B-8E7F-7804-5745E74FD67D}"/>
              </a:ext>
            </a:extLst>
          </p:cNvPr>
          <p:cNvGraphicFramePr/>
          <p:nvPr>
            <p:extLst>
              <p:ext uri="{D42A27DB-BD31-4B8C-83A1-F6EECF244321}">
                <p14:modId xmlns:p14="http://schemas.microsoft.com/office/powerpoint/2010/main" val="3049022136"/>
              </p:ext>
            </p:extLst>
          </p:nvPr>
        </p:nvGraphicFramePr>
        <p:xfrm>
          <a:off x="2032000" y="1781665"/>
          <a:ext cx="8128000" cy="19324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5" name="Group 4">
            <a:extLst>
              <a:ext uri="{FF2B5EF4-FFF2-40B4-BE49-F238E27FC236}">
                <a16:creationId xmlns:a16="http://schemas.microsoft.com/office/drawing/2014/main" id="{1CC2E095-49E0-7DE9-A463-CF81579875FD}"/>
              </a:ext>
            </a:extLst>
          </p:cNvPr>
          <p:cNvGrpSpPr/>
          <p:nvPr/>
        </p:nvGrpSpPr>
        <p:grpSpPr>
          <a:xfrm rot="5400000">
            <a:off x="9239268" y="3354969"/>
            <a:ext cx="331081" cy="387302"/>
            <a:chOff x="1721445" y="772596"/>
            <a:chExt cx="331081" cy="387302"/>
          </a:xfrm>
        </p:grpSpPr>
        <p:sp>
          <p:nvSpPr>
            <p:cNvPr id="6" name="Arrow: Right 5">
              <a:extLst>
                <a:ext uri="{FF2B5EF4-FFF2-40B4-BE49-F238E27FC236}">
                  <a16:creationId xmlns:a16="http://schemas.microsoft.com/office/drawing/2014/main" id="{FCDA3A53-9F83-027C-1CCE-FD71A71A75EE}"/>
                </a:ext>
              </a:extLst>
            </p:cNvPr>
            <p:cNvSpPr/>
            <p:nvPr/>
          </p:nvSpPr>
          <p:spPr>
            <a:xfrm>
              <a:off x="1721445" y="772596"/>
              <a:ext cx="331081" cy="387302"/>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8" name="Arrow: Right 4">
              <a:extLst>
                <a:ext uri="{FF2B5EF4-FFF2-40B4-BE49-F238E27FC236}">
                  <a16:creationId xmlns:a16="http://schemas.microsoft.com/office/drawing/2014/main" id="{789D8A69-B983-B2D7-D84C-FA4D836C47EA}"/>
                </a:ext>
              </a:extLst>
            </p:cNvPr>
            <p:cNvSpPr txBox="1"/>
            <p:nvPr/>
          </p:nvSpPr>
          <p:spPr>
            <a:xfrm>
              <a:off x="1721445" y="850056"/>
              <a:ext cx="231757" cy="2323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p:txBody>
        </p:sp>
      </p:grpSp>
      <p:sp>
        <p:nvSpPr>
          <p:cNvPr id="10" name="Rectangle: Rounded Corners 9">
            <a:extLst>
              <a:ext uri="{FF2B5EF4-FFF2-40B4-BE49-F238E27FC236}">
                <a16:creationId xmlns:a16="http://schemas.microsoft.com/office/drawing/2014/main" id="{E2652C02-57D5-7CC3-AA38-83D8C4DDF227}"/>
              </a:ext>
            </a:extLst>
          </p:cNvPr>
          <p:cNvSpPr/>
          <p:nvPr/>
        </p:nvSpPr>
        <p:spPr>
          <a:xfrm>
            <a:off x="8623956" y="3863082"/>
            <a:ext cx="1561703" cy="937021"/>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r>
              <a:rPr lang="en-IN" dirty="0"/>
              <a:t>Feedback Element</a:t>
            </a:r>
          </a:p>
        </p:txBody>
      </p:sp>
      <p:sp>
        <p:nvSpPr>
          <p:cNvPr id="15" name="Arrow: Bent-Up 14">
            <a:extLst>
              <a:ext uri="{FF2B5EF4-FFF2-40B4-BE49-F238E27FC236}">
                <a16:creationId xmlns:a16="http://schemas.microsoft.com/office/drawing/2014/main" id="{9BD82697-5356-C806-9390-2706498ACFCE}"/>
              </a:ext>
            </a:extLst>
          </p:cNvPr>
          <p:cNvSpPr/>
          <p:nvPr/>
        </p:nvSpPr>
        <p:spPr>
          <a:xfrm flipH="1">
            <a:off x="4741680" y="3383080"/>
            <a:ext cx="3742441" cy="990958"/>
          </a:xfrm>
          <a:prstGeom prst="bentUpArrow">
            <a:avLst/>
          </a:prstGeom>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grpSp>
        <p:nvGrpSpPr>
          <p:cNvPr id="16" name="Group 15">
            <a:extLst>
              <a:ext uri="{FF2B5EF4-FFF2-40B4-BE49-F238E27FC236}">
                <a16:creationId xmlns:a16="http://schemas.microsoft.com/office/drawing/2014/main" id="{55EF8FEA-4A53-C0B6-621F-A2B8FD813DAE}"/>
              </a:ext>
            </a:extLst>
          </p:cNvPr>
          <p:cNvGrpSpPr/>
          <p:nvPr/>
        </p:nvGrpSpPr>
        <p:grpSpPr>
          <a:xfrm>
            <a:off x="2032000" y="4800103"/>
            <a:ext cx="1561703" cy="937021"/>
            <a:chOff x="2189956" y="497736"/>
            <a:chExt cx="1561703" cy="937021"/>
          </a:xfrm>
        </p:grpSpPr>
        <p:sp>
          <p:nvSpPr>
            <p:cNvPr id="17" name="Rectangle: Rounded Corners 16">
              <a:extLst>
                <a:ext uri="{FF2B5EF4-FFF2-40B4-BE49-F238E27FC236}">
                  <a16:creationId xmlns:a16="http://schemas.microsoft.com/office/drawing/2014/main" id="{8B11BEA6-D556-9E47-22F8-1A3EDF031CF8}"/>
                </a:ext>
              </a:extLst>
            </p:cNvPr>
            <p:cNvSpPr/>
            <p:nvPr/>
          </p:nvSpPr>
          <p:spPr>
            <a:xfrm>
              <a:off x="2189956" y="497736"/>
              <a:ext cx="1561703" cy="937021"/>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8" name="Rectangle: Rounded Corners 4">
              <a:extLst>
                <a:ext uri="{FF2B5EF4-FFF2-40B4-BE49-F238E27FC236}">
                  <a16:creationId xmlns:a16="http://schemas.microsoft.com/office/drawing/2014/main" id="{965BBD28-66F9-765C-27D8-A8E764AF4B59}"/>
                </a:ext>
              </a:extLst>
            </p:cNvPr>
            <p:cNvSpPr txBox="1"/>
            <p:nvPr/>
          </p:nvSpPr>
          <p:spPr>
            <a:xfrm>
              <a:off x="2217400" y="525180"/>
              <a:ext cx="1506815" cy="88213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dirty="0"/>
                <a:t>Blanking Amplifier</a:t>
              </a:r>
            </a:p>
          </p:txBody>
        </p:sp>
      </p:grpSp>
      <p:sp>
        <p:nvSpPr>
          <p:cNvPr id="19" name="Arrow: Up-Down 18">
            <a:extLst>
              <a:ext uri="{FF2B5EF4-FFF2-40B4-BE49-F238E27FC236}">
                <a16:creationId xmlns:a16="http://schemas.microsoft.com/office/drawing/2014/main" id="{8F99F2F4-236D-3FF0-0B93-21AFEDEFD8D1}"/>
              </a:ext>
            </a:extLst>
          </p:cNvPr>
          <p:cNvSpPr/>
          <p:nvPr/>
        </p:nvSpPr>
        <p:spPr>
          <a:xfrm>
            <a:off x="2619199" y="3289955"/>
            <a:ext cx="387303" cy="1482704"/>
          </a:xfrm>
          <a:prstGeom prst="upDownArrow">
            <a:avLst/>
          </a:prstGeom>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22" name="Arrow: Bent 21">
            <a:extLst>
              <a:ext uri="{FF2B5EF4-FFF2-40B4-BE49-F238E27FC236}">
                <a16:creationId xmlns:a16="http://schemas.microsoft.com/office/drawing/2014/main" id="{813A1FEE-287B-BB19-9F45-C2A635664AB0}"/>
              </a:ext>
            </a:extLst>
          </p:cNvPr>
          <p:cNvSpPr/>
          <p:nvPr/>
        </p:nvSpPr>
        <p:spPr>
          <a:xfrm flipH="1">
            <a:off x="10237459" y="2474451"/>
            <a:ext cx="675235" cy="2808216"/>
          </a:xfrm>
          <a:prstGeom prst="bentArrow">
            <a:avLst/>
          </a:prstGeom>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solidFill>
                <a:schemeClr val="tx1"/>
              </a:solidFill>
            </a:endParaRPr>
          </a:p>
        </p:txBody>
      </p:sp>
      <p:sp>
        <p:nvSpPr>
          <p:cNvPr id="23" name="Rectangle 22">
            <a:extLst>
              <a:ext uri="{FF2B5EF4-FFF2-40B4-BE49-F238E27FC236}">
                <a16:creationId xmlns:a16="http://schemas.microsoft.com/office/drawing/2014/main" id="{76FA4FBD-A9FA-B7C2-22D4-5EB3EAD9DA88}"/>
              </a:ext>
            </a:extLst>
          </p:cNvPr>
          <p:cNvSpPr/>
          <p:nvPr/>
        </p:nvSpPr>
        <p:spPr>
          <a:xfrm>
            <a:off x="3593703" y="5216251"/>
            <a:ext cx="7318991" cy="160276"/>
          </a:xfrm>
          <a:prstGeom prst="rect">
            <a:avLst/>
          </a:prstGeom>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85447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CB039-9DC6-955D-CA1A-62B4954C6E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4F54FE-1E23-9F94-72CB-0A224E48B086}"/>
              </a:ext>
            </a:extLst>
          </p:cNvPr>
          <p:cNvSpPr>
            <a:spLocks noGrp="1"/>
          </p:cNvSpPr>
          <p:nvPr>
            <p:ph type="title"/>
          </p:nvPr>
        </p:nvSpPr>
        <p:spPr>
          <a:xfrm>
            <a:off x="1066800" y="778703"/>
            <a:ext cx="10058400" cy="854040"/>
          </a:xfrm>
        </p:spPr>
        <p:txBody>
          <a:bodyPr>
            <a:normAutofit fontScale="90000"/>
          </a:bodyPr>
          <a:lstStyle/>
          <a:p>
            <a:pPr algn="ctr"/>
            <a:r>
              <a:rPr lang="en-US" b="1" dirty="0"/>
              <a:t>ADVANTAGES OVER CURRENT THERAPEUTICS</a:t>
            </a:r>
            <a:endParaRPr lang="en-IN" b="1" dirty="0"/>
          </a:p>
        </p:txBody>
      </p:sp>
      <p:graphicFrame>
        <p:nvGraphicFramePr>
          <p:cNvPr id="4" name="Table 3">
            <a:extLst>
              <a:ext uri="{FF2B5EF4-FFF2-40B4-BE49-F238E27FC236}">
                <a16:creationId xmlns:a16="http://schemas.microsoft.com/office/drawing/2014/main" id="{87531B3C-8B1B-F1AA-9F31-A62C393576AE}"/>
              </a:ext>
            </a:extLst>
          </p:cNvPr>
          <p:cNvGraphicFramePr>
            <a:graphicFrameLocks noGrp="1"/>
          </p:cNvGraphicFramePr>
          <p:nvPr>
            <p:extLst>
              <p:ext uri="{D42A27DB-BD31-4B8C-83A1-F6EECF244321}">
                <p14:modId xmlns:p14="http://schemas.microsoft.com/office/powerpoint/2010/main" val="337735460"/>
              </p:ext>
            </p:extLst>
          </p:nvPr>
        </p:nvGraphicFramePr>
        <p:xfrm>
          <a:off x="548326" y="1925371"/>
          <a:ext cx="11095347" cy="4153926"/>
        </p:xfrm>
        <a:graphic>
          <a:graphicData uri="http://schemas.openxmlformats.org/drawingml/2006/table">
            <a:tbl>
              <a:tblPr>
                <a:tableStyleId>{D7AC3CCA-C797-4891-BE02-D94E43425B78}</a:tableStyleId>
              </a:tblPr>
              <a:tblGrid>
                <a:gridCol w="2196735">
                  <a:extLst>
                    <a:ext uri="{9D8B030D-6E8A-4147-A177-3AD203B41FA5}">
                      <a16:colId xmlns:a16="http://schemas.microsoft.com/office/drawing/2014/main" val="1644690435"/>
                    </a:ext>
                  </a:extLst>
                </a:gridCol>
                <a:gridCol w="2224653">
                  <a:extLst>
                    <a:ext uri="{9D8B030D-6E8A-4147-A177-3AD203B41FA5}">
                      <a16:colId xmlns:a16="http://schemas.microsoft.com/office/drawing/2014/main" val="2000437513"/>
                    </a:ext>
                  </a:extLst>
                </a:gridCol>
                <a:gridCol w="2224653">
                  <a:extLst>
                    <a:ext uri="{9D8B030D-6E8A-4147-A177-3AD203B41FA5}">
                      <a16:colId xmlns:a16="http://schemas.microsoft.com/office/drawing/2014/main" val="957392761"/>
                    </a:ext>
                  </a:extLst>
                </a:gridCol>
                <a:gridCol w="2224653">
                  <a:extLst>
                    <a:ext uri="{9D8B030D-6E8A-4147-A177-3AD203B41FA5}">
                      <a16:colId xmlns:a16="http://schemas.microsoft.com/office/drawing/2014/main" val="2175833365"/>
                    </a:ext>
                  </a:extLst>
                </a:gridCol>
                <a:gridCol w="2224653">
                  <a:extLst>
                    <a:ext uri="{9D8B030D-6E8A-4147-A177-3AD203B41FA5}">
                      <a16:colId xmlns:a16="http://schemas.microsoft.com/office/drawing/2014/main" val="953965040"/>
                    </a:ext>
                  </a:extLst>
                </a:gridCol>
              </a:tblGrid>
              <a:tr h="297267">
                <a:tc>
                  <a:txBody>
                    <a:bodyPr/>
                    <a:lstStyle/>
                    <a:p>
                      <a:pPr algn="ctr">
                        <a:buNone/>
                      </a:pPr>
                      <a:r>
                        <a:rPr lang="en-IN" sz="1600" b="1">
                          <a:latin typeface="Times New Roman" panose="02020603050405020304" pitchFamily="18" charset="0"/>
                          <a:cs typeface="Times New Roman" panose="02020603050405020304" pitchFamily="18" charset="0"/>
                        </a:rPr>
                        <a:t>Advantage Category</a:t>
                      </a:r>
                    </a:p>
                  </a:txBody>
                  <a:tcPr marL="45199" marR="45199" marT="22600" marB="22600" anchor="ctr"/>
                </a:tc>
                <a:tc>
                  <a:txBody>
                    <a:bodyPr/>
                    <a:lstStyle/>
                    <a:p>
                      <a:pPr algn="ctr">
                        <a:buNone/>
                      </a:pPr>
                      <a:r>
                        <a:rPr lang="en-US" sz="1600" b="1" dirty="0">
                          <a:latin typeface="Times New Roman" panose="02020603050405020304" pitchFamily="18" charset="0"/>
                          <a:cs typeface="Times New Roman" panose="02020603050405020304" pitchFamily="18" charset="0"/>
                        </a:rPr>
                        <a:t>Advantage of Novel Therapeutic</a:t>
                      </a:r>
                    </a:p>
                  </a:txBody>
                  <a:tcPr marL="45199" marR="45199" marT="22600" marB="22600" anchor="ctr"/>
                </a:tc>
                <a:tc>
                  <a:txBody>
                    <a:bodyPr/>
                    <a:lstStyle/>
                    <a:p>
                      <a:pPr algn="ctr">
                        <a:buNone/>
                      </a:pPr>
                      <a:r>
                        <a:rPr lang="en-IN" sz="1600" b="1">
                          <a:latin typeface="Times New Roman" panose="02020603050405020304" pitchFamily="18" charset="0"/>
                          <a:cs typeface="Times New Roman" panose="02020603050405020304" pitchFamily="18" charset="0"/>
                        </a:rPr>
                        <a:t>Advantage Over Levodopa</a:t>
                      </a:r>
                    </a:p>
                  </a:txBody>
                  <a:tcPr marL="45199" marR="45199" marT="22600" marB="22600" anchor="ctr"/>
                </a:tc>
                <a:tc>
                  <a:txBody>
                    <a:bodyPr/>
                    <a:lstStyle/>
                    <a:p>
                      <a:pPr algn="ctr">
                        <a:buNone/>
                      </a:pPr>
                      <a:r>
                        <a:rPr lang="en-IN" sz="1600" b="1">
                          <a:latin typeface="Times New Roman" panose="02020603050405020304" pitchFamily="18" charset="0"/>
                          <a:cs typeface="Times New Roman" panose="02020603050405020304" pitchFamily="18" charset="0"/>
                        </a:rPr>
                        <a:t>Advantage Over DBS</a:t>
                      </a:r>
                    </a:p>
                  </a:txBody>
                  <a:tcPr marL="45199" marR="45199" marT="22600" marB="22600" anchor="ctr"/>
                </a:tc>
                <a:tc>
                  <a:txBody>
                    <a:bodyPr/>
                    <a:lstStyle/>
                    <a:p>
                      <a:pPr algn="ctr">
                        <a:buNone/>
                      </a:pPr>
                      <a:r>
                        <a:rPr lang="en-IN" sz="1600" b="1" dirty="0">
                          <a:latin typeface="Times New Roman" panose="02020603050405020304" pitchFamily="18" charset="0"/>
                          <a:cs typeface="Times New Roman" panose="02020603050405020304" pitchFamily="18" charset="0"/>
                        </a:rPr>
                        <a:t>Advantage Over Traditional TMS</a:t>
                      </a:r>
                    </a:p>
                  </a:txBody>
                  <a:tcPr marL="45199" marR="45199" marT="22600" marB="22600" anchor="ctr"/>
                </a:tc>
                <a:extLst>
                  <a:ext uri="{0D108BD9-81ED-4DB2-BD59-A6C34878D82A}">
                    <a16:rowId xmlns:a16="http://schemas.microsoft.com/office/drawing/2014/main" val="1244701494"/>
                  </a:ext>
                </a:extLst>
              </a:tr>
              <a:tr h="672819">
                <a:tc>
                  <a:txBody>
                    <a:bodyPr/>
                    <a:lstStyle/>
                    <a:p>
                      <a:pPr>
                        <a:buNone/>
                      </a:pPr>
                      <a:r>
                        <a:rPr lang="en-IN" sz="1400" b="0" dirty="0">
                          <a:latin typeface="Times New Roman" panose="02020603050405020304" pitchFamily="18" charset="0"/>
                          <a:cs typeface="Times New Roman" panose="02020603050405020304" pitchFamily="18" charset="0"/>
                        </a:rPr>
                        <a:t>Safety &amp; Invasiveness</a:t>
                      </a:r>
                    </a:p>
                  </a:txBody>
                  <a:tcPr marL="45199" marR="45199" marT="22600" marB="22600" anchor="ctr"/>
                </a:tc>
                <a:tc>
                  <a:txBody>
                    <a:bodyPr/>
                    <a:lstStyle/>
                    <a:p>
                      <a:pPr>
                        <a:buNone/>
                      </a:pPr>
                      <a:r>
                        <a:rPr lang="en-IN" sz="1400" b="0">
                          <a:latin typeface="Times New Roman" panose="02020603050405020304" pitchFamily="18" charset="0"/>
                          <a:cs typeface="Times New Roman" panose="02020603050405020304" pitchFamily="18" charset="0"/>
                        </a:rPr>
                        <a:t>Non-Invasive and Zero Surgical Risk</a:t>
                      </a:r>
                    </a:p>
                  </a:txBody>
                  <a:tcPr marL="45199" marR="45199" marT="22600" marB="22600" anchor="ctr"/>
                </a:tc>
                <a:tc>
                  <a:txBody>
                    <a:bodyPr/>
                    <a:lstStyle/>
                    <a:p>
                      <a:pPr>
                        <a:buNone/>
                      </a:pPr>
                      <a:r>
                        <a:rPr lang="en-IN" sz="1400" b="0" dirty="0">
                          <a:latin typeface="Times New Roman" panose="02020603050405020304" pitchFamily="18" charset="0"/>
                          <a:cs typeface="Times New Roman" panose="02020603050405020304" pitchFamily="18" charset="0"/>
                        </a:rPr>
                        <a:t>Non-invasive</a:t>
                      </a:r>
                    </a:p>
                  </a:txBody>
                  <a:tcPr marL="45199" marR="45199" marT="22600" marB="22600" anchor="ctr"/>
                </a:tc>
                <a:tc>
                  <a:txBody>
                    <a:bodyPr/>
                    <a:lstStyle/>
                    <a:p>
                      <a:pPr>
                        <a:buNone/>
                      </a:pPr>
                      <a:r>
                        <a:rPr lang="en-US" sz="1400" b="0">
                          <a:latin typeface="Times New Roman" panose="02020603050405020304" pitchFamily="18" charset="0"/>
                          <a:cs typeface="Times New Roman" panose="02020603050405020304" pitchFamily="18" charset="0"/>
                        </a:rPr>
                        <a:t>Avoids high risks of Hemorrhage, Infection, and the need for Implant Surgery.</a:t>
                      </a:r>
                    </a:p>
                  </a:txBody>
                  <a:tcPr marL="45199" marR="45199" marT="22600" marB="22600" anchor="ctr"/>
                </a:tc>
                <a:tc>
                  <a:txBody>
                    <a:bodyPr/>
                    <a:lstStyle/>
                    <a:p>
                      <a:pPr>
                        <a:buNone/>
                      </a:pPr>
                      <a:r>
                        <a:rPr lang="en-IN" sz="1400" b="0" dirty="0">
                          <a:latin typeface="Times New Roman" panose="02020603050405020304" pitchFamily="18" charset="0"/>
                          <a:cs typeface="Times New Roman" panose="02020603050405020304" pitchFamily="18" charset="0"/>
                        </a:rPr>
                        <a:t>Non-invasive</a:t>
                      </a:r>
                    </a:p>
                  </a:txBody>
                  <a:tcPr marL="45199" marR="45199" marT="22600" marB="22600" anchor="ctr"/>
                </a:tc>
                <a:extLst>
                  <a:ext uri="{0D108BD9-81ED-4DB2-BD59-A6C34878D82A}">
                    <a16:rowId xmlns:a16="http://schemas.microsoft.com/office/drawing/2014/main" val="3610581706"/>
                  </a:ext>
                </a:extLst>
              </a:tr>
              <a:tr h="798973">
                <a:tc>
                  <a:txBody>
                    <a:bodyPr/>
                    <a:lstStyle/>
                    <a:p>
                      <a:pPr>
                        <a:buNone/>
                      </a:pPr>
                      <a:r>
                        <a:rPr lang="en-IN" sz="1400" b="0">
                          <a:latin typeface="Times New Roman" panose="02020603050405020304" pitchFamily="18" charset="0"/>
                          <a:cs typeface="Times New Roman" panose="02020603050405020304" pitchFamily="18" charset="0"/>
                        </a:rPr>
                        <a:t>Efficacy &amp; Precision</a:t>
                      </a:r>
                    </a:p>
                  </a:txBody>
                  <a:tcPr marL="45199" marR="45199" marT="22600" marB="22600" anchor="ctr"/>
                </a:tc>
                <a:tc>
                  <a:txBody>
                    <a:bodyPr/>
                    <a:lstStyle/>
                    <a:p>
                      <a:pPr>
                        <a:buNone/>
                      </a:pPr>
                      <a:r>
                        <a:rPr lang="en-IN" sz="1400" b="0">
                          <a:latin typeface="Times New Roman" panose="02020603050405020304" pitchFamily="18" charset="0"/>
                          <a:cs typeface="Times New Roman" panose="02020603050405020304" pitchFamily="18" charset="0"/>
                        </a:rPr>
                        <a:t>Adaptive and Personalized Therapy</a:t>
                      </a:r>
                    </a:p>
                  </a:txBody>
                  <a:tcPr marL="45199" marR="45199" marT="22600" marB="22600" anchor="ctr"/>
                </a:tc>
                <a:tc>
                  <a:txBody>
                    <a:bodyPr/>
                    <a:lstStyle/>
                    <a:p>
                      <a:pPr>
                        <a:buNone/>
                      </a:pPr>
                      <a:r>
                        <a:rPr lang="en-US" sz="1400" b="0" dirty="0">
                          <a:latin typeface="Times New Roman" panose="02020603050405020304" pitchFamily="18" charset="0"/>
                          <a:cs typeface="Times New Roman" panose="02020603050405020304" pitchFamily="18" charset="0"/>
                        </a:rPr>
                        <a:t>Avoids Motor Fluctuations and Dyskinesias caused by fixed drug levels.</a:t>
                      </a:r>
                    </a:p>
                  </a:txBody>
                  <a:tcPr marL="45199" marR="45199" marT="22600" marB="22600" anchor="ctr"/>
                </a:tc>
                <a:tc>
                  <a:txBody>
                    <a:bodyPr/>
                    <a:lstStyle/>
                    <a:p>
                      <a:pPr>
                        <a:buNone/>
                      </a:pPr>
                      <a:r>
                        <a:rPr lang="en-US" sz="1400" b="0">
                          <a:latin typeface="Times New Roman" panose="02020603050405020304" pitchFamily="18" charset="0"/>
                          <a:cs typeface="Times New Roman" panose="02020603050405020304" pitchFamily="18" charset="0"/>
                        </a:rPr>
                        <a:t>Offers a targeted, non-ablative alternative to continuous electrical signaling.</a:t>
                      </a:r>
                    </a:p>
                  </a:txBody>
                  <a:tcPr marL="45199" marR="45199" marT="22600" marB="22600" anchor="ctr"/>
                </a:tc>
                <a:tc>
                  <a:txBody>
                    <a:bodyPr/>
                    <a:lstStyle/>
                    <a:p>
                      <a:pPr>
                        <a:buNone/>
                      </a:pPr>
                      <a:r>
                        <a:rPr lang="en-US" sz="1400" b="0">
                          <a:latin typeface="Times New Roman" panose="02020603050405020304" pitchFamily="18" charset="0"/>
                          <a:cs typeface="Times New Roman" panose="02020603050405020304" pitchFamily="18" charset="0"/>
                        </a:rPr>
                        <a:t>Stimulation is Continuous and Adaptive based on real-time EEG, leading to superior, sustained effects.</a:t>
                      </a:r>
                    </a:p>
                  </a:txBody>
                  <a:tcPr marL="45199" marR="45199" marT="22600" marB="22600" anchor="ctr"/>
                </a:tc>
                <a:extLst>
                  <a:ext uri="{0D108BD9-81ED-4DB2-BD59-A6C34878D82A}">
                    <a16:rowId xmlns:a16="http://schemas.microsoft.com/office/drawing/2014/main" val="620424355"/>
                  </a:ext>
                </a:extLst>
              </a:tr>
              <a:tr h="1051281">
                <a:tc>
                  <a:txBody>
                    <a:bodyPr/>
                    <a:lstStyle/>
                    <a:p>
                      <a:pPr>
                        <a:buNone/>
                      </a:pPr>
                      <a:r>
                        <a:rPr lang="en-IN" sz="1400" b="0">
                          <a:latin typeface="Times New Roman" panose="02020603050405020304" pitchFamily="18" charset="0"/>
                          <a:cs typeface="Times New Roman" panose="02020603050405020304" pitchFamily="18" charset="0"/>
                        </a:rPr>
                        <a:t>Accessibility &amp; Cost</a:t>
                      </a:r>
                    </a:p>
                  </a:txBody>
                  <a:tcPr marL="45199" marR="45199" marT="22600" marB="22600" anchor="ctr"/>
                </a:tc>
                <a:tc>
                  <a:txBody>
                    <a:bodyPr/>
                    <a:lstStyle/>
                    <a:p>
                      <a:pPr>
                        <a:buNone/>
                      </a:pPr>
                      <a:r>
                        <a:rPr lang="en-IN" sz="1400" b="0">
                          <a:latin typeface="Times New Roman" panose="02020603050405020304" pitchFamily="18" charset="0"/>
                          <a:cs typeface="Times New Roman" panose="02020603050405020304" pitchFamily="18" charset="0"/>
                        </a:rPr>
                        <a:t>Home-Use &amp; Cost-Effective</a:t>
                      </a:r>
                    </a:p>
                  </a:txBody>
                  <a:tcPr marL="45199" marR="45199" marT="22600" marB="22600" anchor="ctr"/>
                </a:tc>
                <a:tc>
                  <a:txBody>
                    <a:bodyPr/>
                    <a:lstStyle/>
                    <a:p>
                      <a:pPr>
                        <a:buNone/>
                      </a:pPr>
                      <a:r>
                        <a:rPr lang="en-US" sz="1400" b="0">
                          <a:latin typeface="Times New Roman" panose="02020603050405020304" pitchFamily="18" charset="0"/>
                          <a:cs typeface="Times New Roman" panose="02020603050405020304" pitchFamily="18" charset="0"/>
                        </a:rPr>
                        <a:t>Addresses compliance issues related to complex pill timing.</a:t>
                      </a:r>
                    </a:p>
                  </a:txBody>
                  <a:tcPr marL="45199" marR="45199" marT="22600" marB="22600" anchor="ctr"/>
                </a:tc>
                <a:tc>
                  <a:txBody>
                    <a:bodyPr/>
                    <a:lstStyle/>
                    <a:p>
                      <a:pPr>
                        <a:buNone/>
                      </a:pPr>
                      <a:r>
                        <a:rPr lang="en-US" sz="1400" b="0" dirty="0">
                          <a:latin typeface="Times New Roman" panose="02020603050405020304" pitchFamily="18" charset="0"/>
                          <a:cs typeface="Times New Roman" panose="02020603050405020304" pitchFamily="18" charset="0"/>
                        </a:rPr>
                        <a:t>Significant Cost Offset (avoids &gt;$100k surgery cost). Eliminates need for battery replacement.</a:t>
                      </a:r>
                    </a:p>
                  </a:txBody>
                  <a:tcPr marL="45199" marR="45199" marT="22600" marB="22600" anchor="ctr"/>
                </a:tc>
                <a:tc>
                  <a:txBody>
                    <a:bodyPr/>
                    <a:lstStyle/>
                    <a:p>
                      <a:pPr>
                        <a:buNone/>
                      </a:pPr>
                      <a:r>
                        <a:rPr lang="en-US" sz="1400" b="0">
                          <a:latin typeface="Times New Roman" panose="02020603050405020304" pitchFamily="18" charset="0"/>
                          <a:cs typeface="Times New Roman" panose="02020603050405020304" pitchFamily="18" charset="0"/>
                        </a:rPr>
                        <a:t>Eliminates the need for Frequent Clinic Appointments, making it practical for daily use by mobility-impaired patients.</a:t>
                      </a:r>
                    </a:p>
                  </a:txBody>
                  <a:tcPr marL="45199" marR="45199" marT="22600" marB="22600" anchor="ctr"/>
                </a:tc>
                <a:extLst>
                  <a:ext uri="{0D108BD9-81ED-4DB2-BD59-A6C34878D82A}">
                    <a16:rowId xmlns:a16="http://schemas.microsoft.com/office/drawing/2014/main" val="1741364997"/>
                  </a:ext>
                </a:extLst>
              </a:tr>
              <a:tr h="925126">
                <a:tc>
                  <a:txBody>
                    <a:bodyPr/>
                    <a:lstStyle/>
                    <a:p>
                      <a:pPr>
                        <a:buNone/>
                      </a:pPr>
                      <a:r>
                        <a:rPr lang="en-IN" sz="1400" b="0">
                          <a:latin typeface="Times New Roman" panose="02020603050405020304" pitchFamily="18" charset="0"/>
                          <a:cs typeface="Times New Roman" panose="02020603050405020304" pitchFamily="18" charset="0"/>
                        </a:rPr>
                        <a:t>Target Population</a:t>
                      </a:r>
                    </a:p>
                  </a:txBody>
                  <a:tcPr marL="45199" marR="45199" marT="22600" marB="22600" anchor="ctr"/>
                </a:tc>
                <a:tc>
                  <a:txBody>
                    <a:bodyPr/>
                    <a:lstStyle/>
                    <a:p>
                      <a:pPr>
                        <a:buNone/>
                      </a:pPr>
                      <a:r>
                        <a:rPr lang="en-US" sz="1400" b="0" dirty="0">
                          <a:latin typeface="Times New Roman" panose="02020603050405020304" pitchFamily="18" charset="0"/>
                          <a:cs typeface="Times New Roman" panose="02020603050405020304" pitchFamily="18" charset="0"/>
                        </a:rPr>
                        <a:t>Fills the H&amp;Y II-III Treatment Gap</a:t>
                      </a:r>
                    </a:p>
                  </a:txBody>
                  <a:tcPr marL="45199" marR="45199" marT="22600" marB="22600" anchor="ctr"/>
                </a:tc>
                <a:tc>
                  <a:txBody>
                    <a:bodyPr/>
                    <a:lstStyle/>
                    <a:p>
                      <a:pPr>
                        <a:buNone/>
                      </a:pPr>
                      <a:r>
                        <a:rPr lang="en-US" sz="1400" b="0">
                          <a:latin typeface="Times New Roman" panose="02020603050405020304" pitchFamily="18" charset="0"/>
                          <a:cs typeface="Times New Roman" panose="02020603050405020304" pitchFamily="18" charset="0"/>
                        </a:rPr>
                        <a:t>Provides a non-pharmacological option for patients experiencing early drug-related side effects.</a:t>
                      </a:r>
                    </a:p>
                  </a:txBody>
                  <a:tcPr marL="45199" marR="45199" marT="22600" marB="22600" anchor="ctr"/>
                </a:tc>
                <a:tc>
                  <a:txBody>
                    <a:bodyPr/>
                    <a:lstStyle/>
                    <a:p>
                      <a:pPr>
                        <a:buNone/>
                      </a:pPr>
                      <a:r>
                        <a:rPr lang="en-US" sz="1400" b="0">
                          <a:latin typeface="Times New Roman" panose="02020603050405020304" pitchFamily="18" charset="0"/>
                          <a:cs typeface="Times New Roman" panose="02020603050405020304" pitchFamily="18" charset="0"/>
                        </a:rPr>
                        <a:t>Offers an effective alternative for patients who reject invasive surgery or are not yet severe enough for DBS.</a:t>
                      </a:r>
                    </a:p>
                  </a:txBody>
                  <a:tcPr marL="45199" marR="45199" marT="22600" marB="22600" anchor="ctr"/>
                </a:tc>
                <a:tc>
                  <a:txBody>
                    <a:bodyPr/>
                    <a:lstStyle/>
                    <a:p>
                      <a:pPr>
                        <a:buNone/>
                      </a:pPr>
                      <a:r>
                        <a:rPr lang="en-US" sz="1400" b="0" dirty="0">
                          <a:latin typeface="Times New Roman" panose="02020603050405020304" pitchFamily="18" charset="0"/>
                          <a:cs typeface="Times New Roman" panose="02020603050405020304" pitchFamily="18" charset="0"/>
                        </a:rPr>
                        <a:t>Provides a Practical, Wearable version of TMS that allows for longitudinal, non-stationary treatment.</a:t>
                      </a:r>
                    </a:p>
                  </a:txBody>
                  <a:tcPr marL="45199" marR="45199" marT="22600" marB="22600" anchor="ctr"/>
                </a:tc>
                <a:extLst>
                  <a:ext uri="{0D108BD9-81ED-4DB2-BD59-A6C34878D82A}">
                    <a16:rowId xmlns:a16="http://schemas.microsoft.com/office/drawing/2014/main" val="75399818"/>
                  </a:ext>
                </a:extLst>
              </a:tr>
            </a:tbl>
          </a:graphicData>
        </a:graphic>
      </p:graphicFrame>
    </p:spTree>
    <p:extLst>
      <p:ext uri="{BB962C8B-B14F-4D97-AF65-F5344CB8AC3E}">
        <p14:creationId xmlns:p14="http://schemas.microsoft.com/office/powerpoint/2010/main" val="2547394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1FBA7-BE1A-CFE2-D4D9-02F2B64442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A0DD89-C45F-27AF-16F0-B1CE340A9056}"/>
              </a:ext>
            </a:extLst>
          </p:cNvPr>
          <p:cNvSpPr>
            <a:spLocks noGrp="1"/>
          </p:cNvSpPr>
          <p:nvPr>
            <p:ph type="title"/>
          </p:nvPr>
        </p:nvSpPr>
        <p:spPr>
          <a:xfrm>
            <a:off x="1066800" y="876693"/>
            <a:ext cx="10058400" cy="756050"/>
          </a:xfrm>
        </p:spPr>
        <p:txBody>
          <a:bodyPr>
            <a:normAutofit/>
          </a:bodyPr>
          <a:lstStyle/>
          <a:p>
            <a:pPr algn="ctr"/>
            <a:r>
              <a:rPr lang="en-US" b="1" dirty="0">
                <a:latin typeface="Times New Roman" panose="02020603050405020304" pitchFamily="18" charset="0"/>
                <a:cs typeface="Times New Roman" panose="02020603050405020304" pitchFamily="18" charset="0"/>
              </a:rPr>
              <a:t>Device Clearance</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C6E360A-B17B-3E84-A107-1D49AA380B3E}"/>
              </a:ext>
            </a:extLst>
          </p:cNvPr>
          <p:cNvSpPr txBox="1"/>
          <p:nvPr/>
        </p:nvSpPr>
        <p:spPr>
          <a:xfrm>
            <a:off x="197963" y="1831980"/>
            <a:ext cx="11764651" cy="4247317"/>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Because our therapeutic device is a non-invasive neuromodulation device that delivers magnetic stimulation through a wearable, multi-coil cap with integrated EEG feedback, it falls under the authority of the </a:t>
            </a:r>
            <a:r>
              <a:rPr lang="en-IN" b="1" dirty="0">
                <a:latin typeface="Times New Roman" panose="02020603050405020304" pitchFamily="18" charset="0"/>
                <a:cs typeface="Times New Roman" panose="02020603050405020304" pitchFamily="18" charset="0"/>
              </a:rPr>
              <a:t>U.S. Food and Drug Administration </a:t>
            </a:r>
            <a:r>
              <a:rPr lang="en-IN" dirty="0">
                <a:latin typeface="Times New Roman" panose="02020603050405020304" pitchFamily="18" charset="0"/>
                <a:cs typeface="Times New Roman" panose="02020603050405020304" pitchFamily="18" charset="0"/>
              </a:rPr>
              <a:t>(FDA), specifically the </a:t>
            </a:r>
            <a:r>
              <a:rPr lang="en-IN" dirty="0" err="1">
                <a:latin typeface="Times New Roman" panose="02020603050405020304" pitchFamily="18" charset="0"/>
                <a:cs typeface="Times New Roman" panose="02020603050405020304" pitchFamily="18" charset="0"/>
              </a:rPr>
              <a:t>Center</a:t>
            </a:r>
            <a:r>
              <a:rPr lang="en-IN" dirty="0">
                <a:latin typeface="Times New Roman" panose="02020603050405020304" pitchFamily="18" charset="0"/>
                <a:cs typeface="Times New Roman" panose="02020603050405020304" pitchFamily="18" charset="0"/>
              </a:rPr>
              <a:t> for Devices and Radiological Health (CDRH). The regulatory classification for our technology is </a:t>
            </a:r>
            <a:r>
              <a:rPr lang="en-IN" b="1" dirty="0">
                <a:latin typeface="Times New Roman" panose="02020603050405020304" pitchFamily="18" charset="0"/>
                <a:cs typeface="Times New Roman" panose="02020603050405020304" pitchFamily="18" charset="0"/>
              </a:rPr>
              <a:t>Class II, governed through the De Novo section</a:t>
            </a:r>
            <a:r>
              <a:rPr lang="en-IN" dirty="0">
                <a:latin typeface="Times New Roman" panose="02020603050405020304" pitchFamily="18" charset="0"/>
                <a:cs typeface="Times New Roman" panose="02020603050405020304" pitchFamily="18" charset="0"/>
              </a:rPr>
              <a:t>, not a 510(k).</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Since no device that is cleared by the FDA combines real-time EEG sensing with magnetic stimulation in the same wearable system, our solution will be treated as a novel device. Furthermore, as our device is non-invasive and presents predictable and manageable risks, according to De Novo section, it will be classified as a Class II device, similar to TMS.</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In addition to clinical trial, for our case, given the features of the device, the FDA clearance will involve:</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Magnetic field characterization to show that stimulation intensities match those used in safe TMS protocols.</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Electromagnetic compatibility testing to confirm that the device does not interfere with invasive or non-invasive medical electronics or metallic objects in the proximity do not impair performance.</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Biocompatibility testing (ISO 10993) for all materials in contact with the scalp and thermal testing of coils to demonstrate that continuous stimulation does not cause overheating or skin injury.</a:t>
            </a:r>
          </a:p>
        </p:txBody>
      </p:sp>
    </p:spTree>
    <p:extLst>
      <p:ext uri="{BB962C8B-B14F-4D97-AF65-F5344CB8AC3E}">
        <p14:creationId xmlns:p14="http://schemas.microsoft.com/office/powerpoint/2010/main" val="1907673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DE697-A32A-92AE-1146-9B35C14182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E7B568-5687-7114-BF23-DA7AB4078DE4}"/>
              </a:ext>
            </a:extLst>
          </p:cNvPr>
          <p:cNvSpPr>
            <a:spLocks noGrp="1"/>
          </p:cNvSpPr>
          <p:nvPr>
            <p:ph type="title"/>
          </p:nvPr>
        </p:nvSpPr>
        <p:spPr>
          <a:xfrm>
            <a:off x="1066800" y="509047"/>
            <a:ext cx="10058400" cy="1123696"/>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Designing a Clinical Trial</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First In-human Clinical Trial</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91F0BE9-8163-F1DB-C58F-D23C81114421}"/>
              </a:ext>
            </a:extLst>
          </p:cNvPr>
          <p:cNvSpPr txBox="1"/>
          <p:nvPr/>
        </p:nvSpPr>
        <p:spPr>
          <a:xfrm>
            <a:off x="294587" y="1831980"/>
            <a:ext cx="11668027" cy="3970318"/>
          </a:xfrm>
          <a:prstGeom prst="rect">
            <a:avLst/>
          </a:prstGeom>
          <a:noFill/>
        </p:spPr>
        <p:txBody>
          <a:bodyPr wrap="square">
            <a:spAutoFit/>
          </a:bodyPr>
          <a:lstStyle/>
          <a:p>
            <a:pPr algn="just"/>
            <a:r>
              <a:rPr lang="en-IN" b="1" dirty="0">
                <a:latin typeface="Times New Roman" panose="02020603050405020304" pitchFamily="18" charset="0"/>
                <a:cs typeface="Times New Roman" panose="02020603050405020304" pitchFamily="18" charset="0"/>
              </a:rPr>
              <a:t>Aim:</a:t>
            </a:r>
            <a:r>
              <a:rPr lang="en-IN" dirty="0">
                <a:latin typeface="Times New Roman" panose="02020603050405020304" pitchFamily="18" charset="0"/>
                <a:cs typeface="Times New Roman" panose="02020603050405020304" pitchFamily="18" charset="0"/>
              </a:rPr>
              <a:t> To design a first-in-human clinical trial.</a:t>
            </a:r>
          </a:p>
          <a:p>
            <a:pPr algn="just"/>
            <a:r>
              <a:rPr lang="en-IN" b="1" dirty="0">
                <a:latin typeface="Times New Roman" panose="02020603050405020304" pitchFamily="18" charset="0"/>
                <a:cs typeface="Times New Roman" panose="02020603050405020304" pitchFamily="18" charset="0"/>
              </a:rPr>
              <a:t>Title:</a:t>
            </a:r>
            <a:r>
              <a:rPr lang="en-IN" dirty="0">
                <a:latin typeface="Times New Roman" panose="02020603050405020304" pitchFamily="18" charset="0"/>
                <a:cs typeface="Times New Roman" panose="02020603050405020304" pitchFamily="18" charset="0"/>
              </a:rPr>
              <a:t> FIRST-PD: First-in-Human Evaluation of a Wearable Closed-Loop Transcranial Magnetic Neuromodulation Cap for Motor Symptoms in Early Parkinson’s Disease.</a:t>
            </a:r>
          </a:p>
          <a:p>
            <a:pPr algn="just"/>
            <a:r>
              <a:rPr lang="en-IN" b="1" dirty="0">
                <a:latin typeface="Times New Roman" panose="02020603050405020304" pitchFamily="18" charset="0"/>
                <a:cs typeface="Times New Roman" panose="02020603050405020304" pitchFamily="18" charset="0"/>
              </a:rPr>
              <a:t>Objectives:</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The primary objective of this first in-human study is to evaluate the safety and tolerability of our proposed solution, a wearable closed-loop transcranial magnetic neuromodulation cap. Previous studies have initially focused on prioritizing safety of their device before exploring long term outcomes. The secondary objectives of our trial will focus on change in MDS-UPDRS III score from baseline, evaluating the adherence to home-use by reviewing patient-reported usability and satisfaction.</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Major trials based on using devices, such as TMS and DBS, to alleviate PD symptoms had </a:t>
            </a:r>
            <a:r>
              <a:rPr lang="en-IN" b="1" dirty="0">
                <a:latin typeface="Times New Roman" panose="02020603050405020304" pitchFamily="18" charset="0"/>
                <a:cs typeface="Times New Roman" panose="02020603050405020304" pitchFamily="18" charset="0"/>
              </a:rPr>
              <a:t>adopted a randomized, double-blind, sham-controlled, with participants assigned in a 2:1 ratio</a:t>
            </a:r>
            <a:r>
              <a:rPr lang="en-IN" dirty="0">
                <a:latin typeface="Times New Roman" panose="02020603050405020304" pitchFamily="18" charset="0"/>
                <a:cs typeface="Times New Roman" panose="02020603050405020304" pitchFamily="18" charset="0"/>
              </a:rPr>
              <a:t>. TMS trials have been known to give 2-4 weeks of daily or near-daily treatment with follow up lasting another 2-4 weeks.</a:t>
            </a:r>
          </a:p>
          <a:p>
            <a:pPr algn="just"/>
            <a:r>
              <a:rPr lang="en-IN" dirty="0">
                <a:latin typeface="Times New Roman" panose="02020603050405020304" pitchFamily="18" charset="0"/>
                <a:cs typeface="Times New Roman" panose="02020603050405020304" pitchFamily="18" charset="0"/>
              </a:rPr>
              <a:t>For our study design, we are proposing a two-stage trial.</a:t>
            </a:r>
          </a:p>
        </p:txBody>
      </p:sp>
    </p:spTree>
    <p:extLst>
      <p:ext uri="{BB962C8B-B14F-4D97-AF65-F5344CB8AC3E}">
        <p14:creationId xmlns:p14="http://schemas.microsoft.com/office/powerpoint/2010/main" val="3417318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BE1B8-072D-7EEE-8DD6-3B8207EFF2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1E96DA-98F5-7C3F-7925-1CD71D691D41}"/>
              </a:ext>
            </a:extLst>
          </p:cNvPr>
          <p:cNvSpPr>
            <a:spLocks noGrp="1"/>
          </p:cNvSpPr>
          <p:nvPr>
            <p:ph type="title"/>
          </p:nvPr>
        </p:nvSpPr>
        <p:spPr>
          <a:xfrm>
            <a:off x="1066800" y="509047"/>
            <a:ext cx="10058400" cy="1123696"/>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Designing a Clinical Trial</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First In-human Clinical Trial</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58D0D19-82F7-8D7B-1ED2-7CFC59784F2E}"/>
              </a:ext>
            </a:extLst>
          </p:cNvPr>
          <p:cNvSpPr txBox="1"/>
          <p:nvPr/>
        </p:nvSpPr>
        <p:spPr>
          <a:xfrm>
            <a:off x="65988" y="1765721"/>
            <a:ext cx="11840066" cy="4524315"/>
          </a:xfrm>
          <a:prstGeom prst="rect">
            <a:avLst/>
          </a:prstGeom>
          <a:noFill/>
        </p:spPr>
        <p:txBody>
          <a:bodyPr wrap="square">
            <a:spAutoFit/>
          </a:bodyPr>
          <a:lstStyle/>
          <a:p>
            <a:pPr algn="just"/>
            <a:r>
              <a:rPr lang="en-IN" b="1" dirty="0">
                <a:latin typeface="Times New Roman" panose="02020603050405020304" pitchFamily="18" charset="0"/>
                <a:cs typeface="Times New Roman" panose="02020603050405020304" pitchFamily="18" charset="0"/>
              </a:rPr>
              <a:t>Study Population:</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Clinical trials based on the management of symptoms in PD typically recruit patients </a:t>
            </a:r>
            <a:r>
              <a:rPr lang="en-IN" b="1" dirty="0">
                <a:latin typeface="Times New Roman" panose="02020603050405020304" pitchFamily="18" charset="0"/>
                <a:cs typeface="Times New Roman" panose="02020603050405020304" pitchFamily="18" charset="0"/>
              </a:rPr>
              <a:t>aged 45-80 years </a:t>
            </a:r>
            <a:r>
              <a:rPr lang="en-IN" dirty="0">
                <a:latin typeface="Times New Roman" panose="02020603050405020304" pitchFamily="18" charset="0"/>
                <a:cs typeface="Times New Roman" panose="02020603050405020304" pitchFamily="18" charset="0"/>
              </a:rPr>
              <a:t>with no major psychiatric illness and a confirmed diagnosis of PD by scales such as </a:t>
            </a:r>
            <a:r>
              <a:rPr lang="en-IN" b="1" dirty="0">
                <a:latin typeface="Times New Roman" panose="02020603050405020304" pitchFamily="18" charset="0"/>
                <a:cs typeface="Times New Roman" panose="02020603050405020304" pitchFamily="18" charset="0"/>
              </a:rPr>
              <a:t>MDS-UPDRS, Hoehn and Yahr Scale, or the UK Brain Bank</a:t>
            </a:r>
            <a:r>
              <a:rPr lang="en-IN" dirty="0">
                <a:latin typeface="Times New Roman" panose="02020603050405020304" pitchFamily="18" charset="0"/>
                <a:cs typeface="Times New Roman" panose="02020603050405020304" pitchFamily="18" charset="0"/>
              </a:rPr>
              <a:t>, backed by evidence such as positive response to levodopa or from MRI or CT scans that no non-existence of other conditions.</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Most trials, depending the device being used, include patients </a:t>
            </a:r>
            <a:r>
              <a:rPr lang="en-IN" b="1" dirty="0">
                <a:latin typeface="Times New Roman" panose="02020603050405020304" pitchFamily="18" charset="0"/>
                <a:cs typeface="Times New Roman" panose="02020603050405020304" pitchFamily="18" charset="0"/>
              </a:rPr>
              <a:t>within Hoehn and Yahr stages II–IV</a:t>
            </a:r>
            <a:r>
              <a:rPr lang="en-IN" dirty="0">
                <a:latin typeface="Times New Roman" panose="02020603050405020304" pitchFamily="18" charset="0"/>
                <a:cs typeface="Times New Roman" panose="02020603050405020304" pitchFamily="18" charset="0"/>
              </a:rPr>
              <a:t>, representing mild to moderately advanced disease where symptoms are evident but the patient can still perform daily activities.</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Many clinical trials that have based their studies around </a:t>
            </a:r>
            <a:r>
              <a:rPr lang="en-IN" b="1" dirty="0">
                <a:latin typeface="Times New Roman" panose="02020603050405020304" pitchFamily="18" charset="0"/>
                <a:cs typeface="Times New Roman" panose="02020603050405020304" pitchFamily="18" charset="0"/>
              </a:rPr>
              <a:t>TMS have recruited patients actively in the II-III stage of the Hoehn and Yahr scale</a:t>
            </a:r>
            <a:r>
              <a:rPr lang="en-IN" dirty="0">
                <a:latin typeface="Times New Roman" panose="02020603050405020304" pitchFamily="18" charset="0"/>
                <a:cs typeface="Times New Roman" panose="02020603050405020304" pitchFamily="18" charset="0"/>
              </a:rPr>
              <a:t>, while studies involving </a:t>
            </a:r>
            <a:r>
              <a:rPr lang="en-IN" b="1" dirty="0">
                <a:latin typeface="Times New Roman" panose="02020603050405020304" pitchFamily="18" charset="0"/>
                <a:cs typeface="Times New Roman" panose="02020603050405020304" pitchFamily="18" charset="0"/>
              </a:rPr>
              <a:t>DBS have recruited patients belonging to the stage III-IV of the Hoehn and Yahr scale</a:t>
            </a:r>
            <a:r>
              <a:rPr lang="en-IN" dirty="0">
                <a:latin typeface="Times New Roman" panose="02020603050405020304" pitchFamily="18" charset="0"/>
                <a:cs typeface="Times New Roman" panose="02020603050405020304" pitchFamily="18" charset="0"/>
              </a:rPr>
              <a:t>. As our therapeutic solution is functionally similar to TMS in its non-invasive mechanism of action, rather than the invasive method of DBS, the clinical trial design can be modelled on existing TMS patient recruitment frameworks. For our trial, patients with </a:t>
            </a:r>
            <a:r>
              <a:rPr lang="en-IN" b="1" dirty="0">
                <a:latin typeface="Times New Roman" panose="02020603050405020304" pitchFamily="18" charset="0"/>
                <a:cs typeface="Times New Roman" panose="02020603050405020304" pitchFamily="18" charset="0"/>
              </a:rPr>
              <a:t>idiopathic PD classified in the stage II-III of the Hoehn and Yahr scale </a:t>
            </a:r>
            <a:r>
              <a:rPr lang="en-IN" dirty="0">
                <a:latin typeface="Times New Roman" panose="02020603050405020304" pitchFamily="18" charset="0"/>
                <a:cs typeface="Times New Roman" panose="02020603050405020304" pitchFamily="18" charset="0"/>
              </a:rPr>
              <a:t>or with a </a:t>
            </a:r>
            <a:r>
              <a:rPr lang="en-IN" b="1" dirty="0">
                <a:latin typeface="Times New Roman" panose="02020603050405020304" pitchFamily="18" charset="0"/>
                <a:cs typeface="Times New Roman" panose="02020603050405020304" pitchFamily="18" charset="0"/>
              </a:rPr>
              <a:t>score of 10-48 in the UPDRS test</a:t>
            </a:r>
            <a:r>
              <a:rPr lang="en-IN" dirty="0">
                <a:latin typeface="Times New Roman" panose="02020603050405020304" pitchFamily="18" charset="0"/>
                <a:cs typeface="Times New Roman" panose="02020603050405020304" pitchFamily="18" charset="0"/>
              </a:rPr>
              <a:t>, presenting with persistent motor incapabilities and seeking a non-invasive method to treat motor symptoms or reduce medications are primarily preferred.</a:t>
            </a:r>
          </a:p>
        </p:txBody>
      </p:sp>
    </p:spTree>
    <p:extLst>
      <p:ext uri="{BB962C8B-B14F-4D97-AF65-F5344CB8AC3E}">
        <p14:creationId xmlns:p14="http://schemas.microsoft.com/office/powerpoint/2010/main" val="1892126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CFF61-1563-C451-8083-B85D79D069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621FE-72D7-D404-2B8D-937D91E06044}"/>
              </a:ext>
            </a:extLst>
          </p:cNvPr>
          <p:cNvSpPr>
            <a:spLocks noGrp="1"/>
          </p:cNvSpPr>
          <p:nvPr>
            <p:ph type="title"/>
          </p:nvPr>
        </p:nvSpPr>
        <p:spPr>
          <a:xfrm>
            <a:off x="1066800" y="509047"/>
            <a:ext cx="10058400" cy="1123696"/>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Designing a Clinical Trial</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First In-human Clinical Trial</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1C3746B-004C-77D7-F73C-70569043502F}"/>
              </a:ext>
            </a:extLst>
          </p:cNvPr>
          <p:cNvSpPr txBox="1"/>
          <p:nvPr/>
        </p:nvSpPr>
        <p:spPr>
          <a:xfrm>
            <a:off x="294588" y="1831980"/>
            <a:ext cx="5710286" cy="4062651"/>
          </a:xfrm>
          <a:prstGeom prst="rect">
            <a:avLst/>
          </a:prstGeom>
          <a:noFill/>
        </p:spPr>
        <p:txBody>
          <a:bodyPr wrap="square">
            <a:spAutoFit/>
          </a:bodyPr>
          <a:lstStyle/>
          <a:p>
            <a:pPr algn="just"/>
            <a:r>
              <a:rPr lang="en-IN" b="1" dirty="0">
                <a:latin typeface="Times New Roman" panose="02020603050405020304" pitchFamily="18" charset="0"/>
                <a:cs typeface="Times New Roman" panose="02020603050405020304" pitchFamily="18" charset="0"/>
              </a:rPr>
              <a:t>Stage 1: Open-Label Feasibility &amp; Safety Run-In:</a:t>
            </a:r>
            <a:endParaRPr lang="en-IN" sz="2400"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lvl="0" algn="just"/>
            <a:r>
              <a:rPr lang="en-IN" b="1" dirty="0">
                <a:latin typeface="Times New Roman" panose="02020603050405020304" pitchFamily="18" charset="0"/>
                <a:cs typeface="Times New Roman" panose="02020603050405020304" pitchFamily="18" charset="0"/>
              </a:rPr>
              <a:t>Sample Size (N): </a:t>
            </a:r>
            <a:r>
              <a:rPr lang="en-IN" dirty="0">
                <a:latin typeface="Times New Roman" panose="02020603050405020304" pitchFamily="18" charset="0"/>
                <a:cs typeface="Times New Roman" panose="02020603050405020304" pitchFamily="18" charset="0"/>
              </a:rPr>
              <a:t>20 participants</a:t>
            </a:r>
          </a:p>
          <a:p>
            <a:pPr lvl="0" algn="just"/>
            <a:endParaRPr lang="en-IN" sz="2400" dirty="0">
              <a:latin typeface="Times New Roman" panose="02020603050405020304" pitchFamily="18" charset="0"/>
              <a:cs typeface="Times New Roman" panose="02020603050405020304" pitchFamily="18" charset="0"/>
            </a:endParaRPr>
          </a:p>
          <a:p>
            <a:pPr lvl="0" algn="just"/>
            <a:r>
              <a:rPr lang="en-IN" b="1" dirty="0">
                <a:latin typeface="Times New Roman" panose="02020603050405020304" pitchFamily="18" charset="0"/>
                <a:cs typeface="Times New Roman" panose="02020603050405020304" pitchFamily="18" charset="0"/>
              </a:rPr>
              <a:t>Design:</a:t>
            </a:r>
            <a:r>
              <a:rPr lang="en-IN" dirty="0">
                <a:latin typeface="Times New Roman" panose="02020603050405020304" pitchFamily="18" charset="0"/>
                <a:cs typeface="Times New Roman" panose="02020603050405020304" pitchFamily="18" charset="0"/>
              </a:rPr>
              <a:t> Open-label, single-arm trial</a:t>
            </a:r>
            <a:endParaRPr lang="en-IN" sz="2400" dirty="0">
              <a:latin typeface="Times New Roman" panose="02020603050405020304" pitchFamily="18" charset="0"/>
              <a:cs typeface="Times New Roman" panose="02020603050405020304" pitchFamily="18" charset="0"/>
            </a:endParaRPr>
          </a:p>
          <a:p>
            <a:pPr lvl="0" algn="just"/>
            <a:r>
              <a:rPr lang="en-IN" b="1" dirty="0">
                <a:latin typeface="Times New Roman" panose="02020603050405020304" pitchFamily="18" charset="0"/>
                <a:cs typeface="Times New Roman" panose="02020603050405020304" pitchFamily="18" charset="0"/>
              </a:rPr>
              <a:t>Objective: </a:t>
            </a:r>
            <a:r>
              <a:rPr lang="en-IN" dirty="0">
                <a:latin typeface="Times New Roman" panose="02020603050405020304" pitchFamily="18" charset="0"/>
                <a:cs typeface="Times New Roman" panose="02020603050405020304" pitchFamily="18" charset="0"/>
              </a:rPr>
              <a:t>Evaluate initial safety, tolerability, and usability of our proposed wearable closed-loop neuromodulation cap.</a:t>
            </a:r>
            <a:endParaRPr lang="en-IN" sz="2400"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lvl="0" algn="just"/>
            <a:r>
              <a:rPr lang="en-IN" b="1" dirty="0">
                <a:latin typeface="Times New Roman" panose="02020603050405020304" pitchFamily="18" charset="0"/>
                <a:cs typeface="Times New Roman" panose="02020603050405020304" pitchFamily="18" charset="0"/>
              </a:rPr>
              <a:t>Primary Endpoint:</a:t>
            </a:r>
            <a:endParaRPr lang="en-IN" sz="2400" b="1"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Incidence of device-related serious adverse events (SAEs)</a:t>
            </a:r>
            <a:endParaRPr lang="en-IN" sz="2400"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Feasibility of home use</a:t>
            </a:r>
            <a:endParaRPr lang="en-IN" sz="2400"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Understand the relationship between EEG changes and motor response</a:t>
            </a:r>
            <a:endParaRPr lang="en-IN" sz="24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5DD13DB3-7AC1-4F5A-9F67-FDFA6103254D}"/>
              </a:ext>
            </a:extLst>
          </p:cNvPr>
          <p:cNvSpPr/>
          <p:nvPr/>
        </p:nvSpPr>
        <p:spPr>
          <a:xfrm>
            <a:off x="6187127" y="1824639"/>
            <a:ext cx="5870541" cy="440648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285750" lvl="0" indent="-285750" algn="just">
              <a:buFont typeface="Courier New" panose="02070309020205020404" pitchFamily="49" charset="0"/>
              <a:buChar char="o"/>
            </a:pPr>
            <a:r>
              <a:rPr lang="en-IN" sz="1600" b="1" dirty="0">
                <a:latin typeface="Times New Roman" panose="02020603050405020304" pitchFamily="18" charset="0"/>
                <a:cs typeface="Times New Roman" panose="02020603050405020304" pitchFamily="18" charset="0"/>
              </a:rPr>
              <a:t>Included Patients:</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Idiopathic Parkinson’s disease</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Hoehn &amp; Yahr Stage II-III</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MDS-UPDRS III score: 10–48</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Ages 45–80 years</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Stable dopaminergic treatment ≥4 weeks but no major improvements</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Willing to use device at home and attend EEG calibration visits</a:t>
            </a:r>
          </a:p>
          <a:p>
            <a:pPr algn="just"/>
            <a:r>
              <a:rPr lang="en-IN" sz="1600" dirty="0">
                <a:latin typeface="Times New Roman" panose="02020603050405020304" pitchFamily="18" charset="0"/>
                <a:cs typeface="Times New Roman" panose="02020603050405020304" pitchFamily="18" charset="0"/>
              </a:rPr>
              <a:t> </a:t>
            </a:r>
          </a:p>
          <a:p>
            <a:pPr marL="285750" lvl="0" indent="-285750" algn="just">
              <a:buFont typeface="Courier New" panose="02070309020205020404" pitchFamily="49" charset="0"/>
              <a:buChar char="o"/>
            </a:pPr>
            <a:r>
              <a:rPr lang="en-IN" sz="1600" b="1" dirty="0">
                <a:latin typeface="Times New Roman" panose="02020603050405020304" pitchFamily="18" charset="0"/>
                <a:cs typeface="Times New Roman" panose="02020603050405020304" pitchFamily="18" charset="0"/>
              </a:rPr>
              <a:t>Excluded Patients:</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Implanted electrical or ferromagnetic devices</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History of epilepsy or seizure disorder</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Atypical or secondary parkinsonism </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Severe psychiatric illness or moderate–severe cognitive impairment</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Significant comorbidities </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MRI/CT evidence of lesions or abnormalities inconsistent with idiopathic PD</a:t>
            </a:r>
          </a:p>
        </p:txBody>
      </p:sp>
    </p:spTree>
    <p:extLst>
      <p:ext uri="{BB962C8B-B14F-4D97-AF65-F5344CB8AC3E}">
        <p14:creationId xmlns:p14="http://schemas.microsoft.com/office/powerpoint/2010/main" val="2269016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5FA41-CEDA-F70A-0E27-A8288DF35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81531-F643-AFC4-6332-36A7E336AB98}"/>
              </a:ext>
            </a:extLst>
          </p:cNvPr>
          <p:cNvSpPr>
            <a:spLocks noGrp="1"/>
          </p:cNvSpPr>
          <p:nvPr>
            <p:ph type="title"/>
          </p:nvPr>
        </p:nvSpPr>
        <p:spPr>
          <a:xfrm>
            <a:off x="1066800" y="509047"/>
            <a:ext cx="10058400" cy="1123696"/>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Designing a Clinical Trial</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First In-human Clinical Trial</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23F18CA-A164-BA5D-4444-0F0B1D288CCA}"/>
              </a:ext>
            </a:extLst>
          </p:cNvPr>
          <p:cNvSpPr txBox="1"/>
          <p:nvPr/>
        </p:nvSpPr>
        <p:spPr>
          <a:xfrm>
            <a:off x="134332" y="1765721"/>
            <a:ext cx="6257041" cy="4524315"/>
          </a:xfrm>
          <a:prstGeom prst="rect">
            <a:avLst/>
          </a:prstGeom>
          <a:noFill/>
        </p:spPr>
        <p:txBody>
          <a:bodyPr wrap="square">
            <a:spAutoFit/>
          </a:bodyPr>
          <a:lstStyle/>
          <a:p>
            <a:pPr algn="just"/>
            <a:r>
              <a:rPr lang="en-IN" b="1" dirty="0">
                <a:latin typeface="Times New Roman" panose="02020603050405020304" pitchFamily="18" charset="0"/>
                <a:cs typeface="Times New Roman" panose="02020603050405020304" pitchFamily="18" charset="0"/>
              </a:rPr>
              <a:t>Stage 2: Randomized, Double-Blind, Sham-Controlled Trial</a:t>
            </a:r>
            <a:endParaRPr lang="en-IN" dirty="0">
              <a:latin typeface="Times New Roman" panose="02020603050405020304" pitchFamily="18" charset="0"/>
              <a:cs typeface="Times New Roman" panose="02020603050405020304" pitchFamily="18" charset="0"/>
            </a:endParaRPr>
          </a:p>
          <a:p>
            <a:pPr lvl="0" algn="just"/>
            <a:r>
              <a:rPr lang="en-IN" dirty="0">
                <a:latin typeface="Times New Roman" panose="02020603050405020304" pitchFamily="18" charset="0"/>
                <a:cs typeface="Times New Roman" panose="02020603050405020304" pitchFamily="18" charset="0"/>
              </a:rPr>
              <a:t>Sample Size (N): 60 participants</a:t>
            </a:r>
          </a:p>
          <a:p>
            <a:pPr lvl="0" algn="just"/>
            <a:r>
              <a:rPr lang="en-IN" dirty="0">
                <a:latin typeface="Times New Roman" panose="02020603050405020304" pitchFamily="18" charset="0"/>
                <a:cs typeface="Times New Roman" panose="02020603050405020304" pitchFamily="18" charset="0"/>
              </a:rPr>
              <a:t>Active: 40 (1.2-1.5T) Sham: 20 (0T)</a:t>
            </a:r>
          </a:p>
          <a:p>
            <a:pPr lvl="0" algn="just"/>
            <a:r>
              <a:rPr lang="en-IN" b="1" dirty="0">
                <a:latin typeface="Times New Roman" panose="02020603050405020304" pitchFamily="18" charset="0"/>
                <a:cs typeface="Times New Roman" panose="02020603050405020304" pitchFamily="18" charset="0"/>
              </a:rPr>
              <a:t>Design:</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Randomized (2:1 </a:t>
            </a:r>
            <a:r>
              <a:rPr lang="en-IN" dirty="0" err="1">
                <a:latin typeface="Times New Roman" panose="02020603050405020304" pitchFamily="18" charset="0"/>
                <a:cs typeface="Times New Roman" panose="02020603050405020304" pitchFamily="18" charset="0"/>
              </a:rPr>
              <a:t>active:sham</a:t>
            </a:r>
            <a:r>
              <a:rPr lang="en-IN" dirty="0">
                <a:latin typeface="Times New Roman" panose="02020603050405020304" pitchFamily="18" charset="0"/>
                <a:cs typeface="Times New Roman" panose="02020603050405020304" pitchFamily="18" charset="0"/>
              </a:rPr>
              <a:t>), Double-blind</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Duration: 8 weeks, 1 hour per session, 1 session every day</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Sham cap produces sound/vibration but no therapeutic magnetic field</a:t>
            </a:r>
          </a:p>
          <a:p>
            <a:pPr lvl="0" algn="just"/>
            <a:r>
              <a:rPr lang="en-IN" b="1" dirty="0">
                <a:latin typeface="Times New Roman" panose="02020603050405020304" pitchFamily="18" charset="0"/>
                <a:cs typeface="Times New Roman" panose="02020603050405020304" pitchFamily="18" charset="0"/>
              </a:rPr>
              <a:t>Objective: </a:t>
            </a:r>
            <a:r>
              <a:rPr lang="en-IN" dirty="0">
                <a:latin typeface="Times New Roman" panose="02020603050405020304" pitchFamily="18" charset="0"/>
                <a:cs typeface="Times New Roman" panose="02020603050405020304" pitchFamily="18" charset="0"/>
              </a:rPr>
              <a:t>Assess preliminary efficacy and confirm safety in a controlled environment</a:t>
            </a:r>
          </a:p>
          <a:p>
            <a:pPr lvl="0" algn="just"/>
            <a:r>
              <a:rPr lang="en-IN" b="1" dirty="0">
                <a:latin typeface="Times New Roman" panose="02020603050405020304" pitchFamily="18" charset="0"/>
                <a:cs typeface="Times New Roman" panose="02020603050405020304" pitchFamily="18" charset="0"/>
              </a:rPr>
              <a:t>Primary Endpoint:</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Change in MDS-UPDRS score from baseline to Week 8 </a:t>
            </a:r>
          </a:p>
          <a:p>
            <a:pPr lvl="0" algn="just"/>
            <a:r>
              <a:rPr lang="en-IN" b="1" dirty="0">
                <a:latin typeface="Times New Roman" panose="02020603050405020304" pitchFamily="18" charset="0"/>
                <a:cs typeface="Times New Roman" panose="02020603050405020304" pitchFamily="18" charset="0"/>
              </a:rPr>
              <a:t>Secondary Endpoints: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Change in total MDS-UPDRS score</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Change in OFF time </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Improvement in quality of life and gait metrics</a:t>
            </a:r>
          </a:p>
        </p:txBody>
      </p:sp>
      <p:sp>
        <p:nvSpPr>
          <p:cNvPr id="3" name="Rectangle 2">
            <a:extLst>
              <a:ext uri="{FF2B5EF4-FFF2-40B4-BE49-F238E27FC236}">
                <a16:creationId xmlns:a16="http://schemas.microsoft.com/office/drawing/2014/main" id="{5529C0FD-794E-E9AE-2750-13052CEBC42A}"/>
              </a:ext>
            </a:extLst>
          </p:cNvPr>
          <p:cNvSpPr/>
          <p:nvPr/>
        </p:nvSpPr>
        <p:spPr>
          <a:xfrm>
            <a:off x="6466788" y="1824639"/>
            <a:ext cx="5590880" cy="440648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285750" lvl="0" indent="-285750" algn="just">
              <a:buFont typeface="Courier New" panose="02070309020205020404" pitchFamily="49" charset="0"/>
              <a:buChar char="o"/>
            </a:pPr>
            <a:r>
              <a:rPr lang="en-IN" sz="1500" b="1" dirty="0">
                <a:latin typeface="Times New Roman" panose="02020603050405020304" pitchFamily="18" charset="0"/>
                <a:cs typeface="Times New Roman" panose="02020603050405020304" pitchFamily="18" charset="0"/>
              </a:rPr>
              <a:t>Included Patients:</a:t>
            </a:r>
          </a:p>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Idiopathic Parkinson’s disease</a:t>
            </a:r>
          </a:p>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Hoehn &amp; Yahr Stage II-III</a:t>
            </a:r>
          </a:p>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MDS-UPDRS III score: 10–48</a:t>
            </a:r>
          </a:p>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Ages 45–80 years</a:t>
            </a:r>
          </a:p>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Stable dopaminergic treatment ≥4 weeks but no major improvements</a:t>
            </a:r>
          </a:p>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Willing to use device at home and attend EEG calibration visits</a:t>
            </a:r>
          </a:p>
          <a:p>
            <a:pPr algn="just"/>
            <a:r>
              <a:rPr lang="en-IN" sz="1500" dirty="0">
                <a:latin typeface="Times New Roman" panose="02020603050405020304" pitchFamily="18" charset="0"/>
                <a:cs typeface="Times New Roman" panose="02020603050405020304" pitchFamily="18" charset="0"/>
              </a:rPr>
              <a:t> </a:t>
            </a:r>
          </a:p>
          <a:p>
            <a:pPr marL="285750" lvl="0" indent="-285750" algn="just">
              <a:buFont typeface="Courier New" panose="02070309020205020404" pitchFamily="49" charset="0"/>
              <a:buChar char="o"/>
            </a:pPr>
            <a:r>
              <a:rPr lang="en-IN" sz="1500" b="1" dirty="0">
                <a:latin typeface="Times New Roman" panose="02020603050405020304" pitchFamily="18" charset="0"/>
                <a:cs typeface="Times New Roman" panose="02020603050405020304" pitchFamily="18" charset="0"/>
              </a:rPr>
              <a:t>Excluded Patients:</a:t>
            </a:r>
          </a:p>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Implanted electrical or ferromagnetic devices</a:t>
            </a:r>
          </a:p>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History of epilepsy or seizure disorder</a:t>
            </a:r>
          </a:p>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Atypical or secondary parkinsonism </a:t>
            </a:r>
          </a:p>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Severe psychiatric illness or moderate–severe cognitive impairment</a:t>
            </a:r>
          </a:p>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Significant comorbidities </a:t>
            </a:r>
          </a:p>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MRI/CT evidence of lesions or abnormalities inconsistent with idiopathic PD</a:t>
            </a:r>
          </a:p>
        </p:txBody>
      </p:sp>
    </p:spTree>
    <p:extLst>
      <p:ext uri="{BB962C8B-B14F-4D97-AF65-F5344CB8AC3E}">
        <p14:creationId xmlns:p14="http://schemas.microsoft.com/office/powerpoint/2010/main" val="3617321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E4655-A7D9-DD19-4BB3-46605381F2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8F3351-AAC0-F35E-FA4A-36FB3A76A284}"/>
              </a:ext>
            </a:extLst>
          </p:cNvPr>
          <p:cNvSpPr>
            <a:spLocks noGrp="1"/>
          </p:cNvSpPr>
          <p:nvPr>
            <p:ph type="title"/>
          </p:nvPr>
        </p:nvSpPr>
        <p:spPr>
          <a:xfrm>
            <a:off x="1066800" y="509047"/>
            <a:ext cx="10058400" cy="1123696"/>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Designing a Clinical Trial</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 </a:t>
            </a:r>
            <a:r>
              <a:rPr lang="en-IN" dirty="0">
                <a:latin typeface="Times New Roman" panose="02020603050405020304" pitchFamily="18" charset="0"/>
                <a:cs typeface="Times New Roman" panose="02020603050405020304" pitchFamily="18" charset="0"/>
              </a:rPr>
              <a:t>PIVOTAL PHASE 3 CLINICAL TRIAL</a:t>
            </a:r>
          </a:p>
        </p:txBody>
      </p:sp>
      <p:sp>
        <p:nvSpPr>
          <p:cNvPr id="4" name="TextBox 3">
            <a:extLst>
              <a:ext uri="{FF2B5EF4-FFF2-40B4-BE49-F238E27FC236}">
                <a16:creationId xmlns:a16="http://schemas.microsoft.com/office/drawing/2014/main" id="{B7BE07EA-6660-3D6F-B125-C91050155F32}"/>
              </a:ext>
            </a:extLst>
          </p:cNvPr>
          <p:cNvSpPr txBox="1"/>
          <p:nvPr/>
        </p:nvSpPr>
        <p:spPr>
          <a:xfrm>
            <a:off x="197963" y="1831980"/>
            <a:ext cx="11764651" cy="4524315"/>
          </a:xfrm>
          <a:prstGeom prst="rect">
            <a:avLst/>
          </a:prstGeom>
          <a:noFill/>
        </p:spPr>
        <p:txBody>
          <a:bodyPr wrap="square">
            <a:spAutoFit/>
          </a:bodyPr>
          <a:lstStyle/>
          <a:p>
            <a:pPr algn="just"/>
            <a:r>
              <a:rPr lang="en-IN" b="1" dirty="0">
                <a:latin typeface="Times New Roman" panose="02020603050405020304" pitchFamily="18" charset="0"/>
                <a:cs typeface="Times New Roman" panose="02020603050405020304" pitchFamily="18" charset="0"/>
              </a:rPr>
              <a:t>Title:</a:t>
            </a:r>
            <a:r>
              <a:rPr lang="en-IN" dirty="0">
                <a:latin typeface="Times New Roman" panose="02020603050405020304" pitchFamily="18" charset="0"/>
                <a:cs typeface="Times New Roman" panose="02020603050405020304" pitchFamily="18" charset="0"/>
              </a:rPr>
              <a:t> ADAPT-PD (Adaptive Neuromodulation for Parkinson’s Disease)</a:t>
            </a:r>
          </a:p>
          <a:p>
            <a:pPr algn="just"/>
            <a:r>
              <a:rPr lang="en-IN" b="1" dirty="0">
                <a:latin typeface="Times New Roman" panose="02020603050405020304" pitchFamily="18" charset="0"/>
                <a:cs typeface="Times New Roman" panose="02020603050405020304" pitchFamily="18" charset="0"/>
              </a:rPr>
              <a:t>Aim:</a:t>
            </a:r>
            <a:r>
              <a:rPr lang="en-IN" dirty="0">
                <a:latin typeface="Times New Roman" panose="02020603050405020304" pitchFamily="18" charset="0"/>
                <a:cs typeface="Times New Roman" panose="02020603050405020304" pitchFamily="18" charset="0"/>
              </a:rPr>
              <a:t> To design a pivotal Phase 3 clinical trial and demonstrate the efficacy and safety of the device over a large population as compared to the first in-human clinical trials.</a:t>
            </a:r>
          </a:p>
          <a:p>
            <a:pPr algn="just"/>
            <a:r>
              <a:rPr lang="en-IN" dirty="0">
                <a:latin typeface="Times New Roman" panose="02020603050405020304" pitchFamily="18" charset="0"/>
                <a:cs typeface="Times New Roman" panose="02020603050405020304" pitchFamily="18" charset="0"/>
              </a:rPr>
              <a:t>The design of our pivotal Phase 3 trial, ADAPT-PD, considers established best practices from trials based around both DBS and TMS to ensure scientific rigor. These pivotal studies of different treatment techniques also reported to enrol large patient groups, usually six times the number of patients admitted for the first in-human trials, with groups ranging from 200 to 1500. Keeping this in mind, we will enrol 360 patients (N=360), which is six times our Stage 2 trial population (N=60). </a:t>
            </a:r>
          </a:p>
          <a:p>
            <a:pPr algn="just"/>
            <a:r>
              <a:rPr lang="en-IN" dirty="0">
                <a:latin typeface="Times New Roman" panose="02020603050405020304" pitchFamily="18" charset="0"/>
                <a:cs typeface="Times New Roman" panose="02020603050405020304" pitchFamily="18" charset="0"/>
              </a:rPr>
              <a:t>180 will receive Active Cap + SoC treatment while the rest 180 will receive Sham Cap + SoC treatment.</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Patient Population and Enrolment Criteria: </a:t>
            </a:r>
            <a:r>
              <a:rPr lang="en-IN" dirty="0">
                <a:latin typeface="Times New Roman" panose="02020603050405020304" pitchFamily="18" charset="0"/>
                <a:cs typeface="Times New Roman" panose="02020603050405020304" pitchFamily="18" charset="0"/>
              </a:rPr>
              <a:t>According to the first in-human trials we designed previously, the enrolment criteria for the pivotal phase 3 study is consistent with the criteria set for stage 1 and stage 2 trials.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End points: </a:t>
            </a:r>
            <a:r>
              <a:rPr lang="en-IN" dirty="0">
                <a:latin typeface="Times New Roman" panose="02020603050405020304" pitchFamily="18" charset="0"/>
                <a:cs typeface="Times New Roman" panose="02020603050405020304" pitchFamily="18" charset="0"/>
              </a:rPr>
              <a:t>Based on previous studies, an improvement of the score of 3-6 points can be expected on average in the active group. We can also anticipate a 5–12% improvement in gait measures such as Timed Up-and-Go and gait speed as observed by previous TMS studies. Potential risks include those similar to TMS such as scalp discomfort, headaches, and light-headedness.</a:t>
            </a:r>
          </a:p>
        </p:txBody>
      </p:sp>
    </p:spTree>
    <p:extLst>
      <p:ext uri="{BB962C8B-B14F-4D97-AF65-F5344CB8AC3E}">
        <p14:creationId xmlns:p14="http://schemas.microsoft.com/office/powerpoint/2010/main" val="1349481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E878A-990D-538A-6B77-F17BB9A26E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E90C0-2061-6734-BD90-E99F81587EED}"/>
              </a:ext>
            </a:extLst>
          </p:cNvPr>
          <p:cNvSpPr>
            <a:spLocks noGrp="1"/>
          </p:cNvSpPr>
          <p:nvPr>
            <p:ph type="title"/>
          </p:nvPr>
        </p:nvSpPr>
        <p:spPr>
          <a:xfrm>
            <a:off x="1066800" y="509047"/>
            <a:ext cx="10058400" cy="1123696"/>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Designing a Clinical Trial</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 </a:t>
            </a:r>
            <a:r>
              <a:rPr lang="en-IN" dirty="0">
                <a:latin typeface="Times New Roman" panose="02020603050405020304" pitchFamily="18" charset="0"/>
                <a:cs typeface="Times New Roman" panose="02020603050405020304" pitchFamily="18" charset="0"/>
              </a:rPr>
              <a:t>PIVOTAL PHASE 3 CLINICAL TRIAL</a:t>
            </a:r>
          </a:p>
        </p:txBody>
      </p:sp>
      <p:sp>
        <p:nvSpPr>
          <p:cNvPr id="4" name="TextBox 3">
            <a:extLst>
              <a:ext uri="{FF2B5EF4-FFF2-40B4-BE49-F238E27FC236}">
                <a16:creationId xmlns:a16="http://schemas.microsoft.com/office/drawing/2014/main" id="{6541EEB1-4B6E-37AF-3284-0D2C4BBDE08E}"/>
              </a:ext>
            </a:extLst>
          </p:cNvPr>
          <p:cNvSpPr txBox="1"/>
          <p:nvPr/>
        </p:nvSpPr>
        <p:spPr>
          <a:xfrm>
            <a:off x="213674" y="1779687"/>
            <a:ext cx="11764651" cy="4801314"/>
          </a:xfrm>
          <a:prstGeom prst="rect">
            <a:avLst/>
          </a:prstGeom>
          <a:noFill/>
        </p:spPr>
        <p:txBody>
          <a:bodyPr wrap="square">
            <a:spAutoFit/>
          </a:bodyPr>
          <a:lstStyle/>
          <a:p>
            <a:pPr algn="just"/>
            <a:r>
              <a:rPr lang="en-IN" b="1" dirty="0">
                <a:latin typeface="Times New Roman" panose="02020603050405020304" pitchFamily="18" charset="0"/>
                <a:cs typeface="Times New Roman" panose="02020603050405020304" pitchFamily="18" charset="0"/>
              </a:rPr>
              <a:t>Statistical Analysis:</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This is a process used in phase 3 trials to mathematically determine, with a high degree of confidence, if the observed differences in the endpoints of the Active group vs Sham group are because of the treatment or a mere coincidence. For our trial, we can do by addressing a few questions that can concretely define if our treatment is effective or not.</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Is the improvement in the MDS-UPDRS score in the Active group significantly greater than the improvement in the Sham group?</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How should common issues like patients dropping out or missing appointments be handled?</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Are the safety data different between the two groups?</a:t>
            </a:r>
          </a:p>
          <a:p>
            <a:pPr algn="just"/>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Most similar trials have usually relied on two methods to ensure the results are both unbiased and statistically robust.</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Intention-to-Treat (ITT)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Mixed Model for Repeated Measures (MMRM)</a:t>
            </a:r>
          </a:p>
          <a:p>
            <a:pPr algn="just"/>
            <a:r>
              <a:rPr lang="en-IN" dirty="0">
                <a:latin typeface="Times New Roman" panose="02020603050405020304" pitchFamily="18" charset="0"/>
                <a:cs typeface="Times New Roman" panose="02020603050405020304" pitchFamily="18" charset="0"/>
              </a:rPr>
              <a:t>In trials like ours thar are based around chronic conditions like PD, MMRM is preferred because of the time-dependent nature of the disease and its treatments. MMRM simultaneously models the scores at all time points. A threshold of </a:t>
            </a:r>
            <a:r>
              <a:rPr lang="en-IN" b="1" dirty="0">
                <a:latin typeface="Times New Roman" panose="02020603050405020304" pitchFamily="18" charset="0"/>
                <a:cs typeface="Times New Roman" panose="02020603050405020304" pitchFamily="18" charset="0"/>
              </a:rPr>
              <a:t>p &lt; 0.05 </a:t>
            </a:r>
            <a:r>
              <a:rPr lang="en-IN" dirty="0">
                <a:latin typeface="Times New Roman" panose="02020603050405020304" pitchFamily="18" charset="0"/>
                <a:cs typeface="Times New Roman" panose="02020603050405020304" pitchFamily="18" charset="0"/>
              </a:rPr>
              <a:t>is the convention used by regulatory bodies like the FDA. It means that the observed benefit is highly likely to be a true effect of the device, with a less than 5% chance of being a fluke, demonstrating that the trial is statistically significant.</a:t>
            </a:r>
          </a:p>
          <a:p>
            <a:pPr lvl="0" algn="just"/>
            <a:endParaRPr lang="en-IN" dirty="0"/>
          </a:p>
        </p:txBody>
      </p:sp>
    </p:spTree>
    <p:extLst>
      <p:ext uri="{BB962C8B-B14F-4D97-AF65-F5344CB8AC3E}">
        <p14:creationId xmlns:p14="http://schemas.microsoft.com/office/powerpoint/2010/main" val="161897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69BAA-1411-9634-C9E9-502E6D692D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AD42E-AFC5-3112-CDB9-875197F662E9}"/>
              </a:ext>
            </a:extLst>
          </p:cNvPr>
          <p:cNvSpPr>
            <a:spLocks noGrp="1"/>
          </p:cNvSpPr>
          <p:nvPr>
            <p:ph type="title"/>
          </p:nvPr>
        </p:nvSpPr>
        <p:spPr>
          <a:xfrm>
            <a:off x="1066800" y="509047"/>
            <a:ext cx="10058400" cy="1123696"/>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Designing a Clinical Trial</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 </a:t>
            </a:r>
            <a:r>
              <a:rPr lang="en-IN" dirty="0">
                <a:latin typeface="Times New Roman" panose="02020603050405020304" pitchFamily="18" charset="0"/>
                <a:cs typeface="Times New Roman" panose="02020603050405020304" pitchFamily="18" charset="0"/>
              </a:rPr>
              <a:t>PIVOTAL PHASE 3 CLINICAL TRIAL</a:t>
            </a:r>
          </a:p>
        </p:txBody>
      </p:sp>
      <p:sp>
        <p:nvSpPr>
          <p:cNvPr id="4" name="TextBox 3">
            <a:extLst>
              <a:ext uri="{FF2B5EF4-FFF2-40B4-BE49-F238E27FC236}">
                <a16:creationId xmlns:a16="http://schemas.microsoft.com/office/drawing/2014/main" id="{5828985D-AD0B-1117-576D-387C316715CC}"/>
              </a:ext>
            </a:extLst>
          </p:cNvPr>
          <p:cNvSpPr txBox="1"/>
          <p:nvPr/>
        </p:nvSpPr>
        <p:spPr>
          <a:xfrm>
            <a:off x="219175" y="1686139"/>
            <a:ext cx="7001757" cy="4801314"/>
          </a:xfrm>
          <a:prstGeom prst="rect">
            <a:avLst/>
          </a:prstGeom>
          <a:noFill/>
        </p:spPr>
        <p:txBody>
          <a:bodyPr wrap="square">
            <a:spAutoFit/>
          </a:bodyPr>
          <a:lstStyle/>
          <a:p>
            <a:pPr algn="just"/>
            <a:r>
              <a:rPr lang="en-IN" b="1" dirty="0">
                <a:latin typeface="Times New Roman" panose="02020603050405020304" pitchFamily="18" charset="0"/>
                <a:cs typeface="Times New Roman" panose="02020603050405020304" pitchFamily="18" charset="0"/>
              </a:rPr>
              <a:t>Phase 3 Trial:</a:t>
            </a:r>
          </a:p>
          <a:p>
            <a:pPr lvl="0" algn="just"/>
            <a:r>
              <a:rPr lang="en-IN" b="1" dirty="0">
                <a:latin typeface="Times New Roman" panose="02020603050405020304" pitchFamily="18" charset="0"/>
                <a:cs typeface="Times New Roman" panose="02020603050405020304" pitchFamily="18" charset="0"/>
              </a:rPr>
              <a:t>Sample Size (N): </a:t>
            </a:r>
            <a:r>
              <a:rPr lang="en-IN" dirty="0">
                <a:latin typeface="Times New Roman" panose="02020603050405020304" pitchFamily="18" charset="0"/>
                <a:cs typeface="Times New Roman" panose="02020603050405020304" pitchFamily="18" charset="0"/>
              </a:rPr>
              <a:t>360 participants</a:t>
            </a:r>
          </a:p>
          <a:p>
            <a:pPr algn="just"/>
            <a:r>
              <a:rPr lang="en-IN" dirty="0">
                <a:latin typeface="Times New Roman" panose="02020603050405020304" pitchFamily="18" charset="0"/>
                <a:cs typeface="Times New Roman" panose="02020603050405020304" pitchFamily="18" charset="0"/>
              </a:rPr>
              <a:t>Active + SoC: 180</a:t>
            </a:r>
          </a:p>
          <a:p>
            <a:pPr algn="just"/>
            <a:r>
              <a:rPr lang="en-IN" dirty="0">
                <a:latin typeface="Times New Roman" panose="02020603050405020304" pitchFamily="18" charset="0"/>
                <a:cs typeface="Times New Roman" panose="02020603050405020304" pitchFamily="18" charset="0"/>
              </a:rPr>
              <a:t>Sham + SoC: 180</a:t>
            </a:r>
          </a:p>
          <a:p>
            <a:pPr lvl="0" algn="just"/>
            <a:r>
              <a:rPr lang="en-IN" b="1" dirty="0">
                <a:latin typeface="Times New Roman" panose="02020603050405020304" pitchFamily="18" charset="0"/>
                <a:cs typeface="Times New Roman" panose="02020603050405020304" pitchFamily="18" charset="0"/>
              </a:rPr>
              <a:t>Design:</a:t>
            </a:r>
          </a:p>
          <a:p>
            <a:pPr lvl="0" algn="just"/>
            <a:r>
              <a:rPr lang="en-IN" dirty="0">
                <a:latin typeface="Times New Roman" panose="02020603050405020304" pitchFamily="18" charset="0"/>
                <a:cs typeface="Times New Roman" panose="02020603050405020304" pitchFamily="18" charset="0"/>
              </a:rPr>
              <a:t>Randomized (1:1 </a:t>
            </a:r>
            <a:r>
              <a:rPr lang="en-IN" dirty="0" err="1">
                <a:latin typeface="Times New Roman" panose="02020603050405020304" pitchFamily="18" charset="0"/>
                <a:cs typeface="Times New Roman" panose="02020603050405020304" pitchFamily="18" charset="0"/>
              </a:rPr>
              <a:t>active:sham</a:t>
            </a:r>
            <a:r>
              <a:rPr lang="en-IN" dirty="0">
                <a:latin typeface="Times New Roman" panose="02020603050405020304" pitchFamily="18" charset="0"/>
                <a:cs typeface="Times New Roman" panose="02020603050405020304" pitchFamily="18" charset="0"/>
              </a:rPr>
              <a:t>), Double-blind </a:t>
            </a:r>
          </a:p>
          <a:p>
            <a:pPr lvl="0" algn="just"/>
            <a:r>
              <a:rPr lang="en-IN" dirty="0">
                <a:latin typeface="Times New Roman" panose="02020603050405020304" pitchFamily="18" charset="0"/>
                <a:cs typeface="Times New Roman" panose="02020603050405020304" pitchFamily="18" charset="0"/>
              </a:rPr>
              <a:t>Sham cap produces sound/vibration but no therapeutic magnetic field</a:t>
            </a:r>
          </a:p>
          <a:p>
            <a:pPr algn="just"/>
            <a:r>
              <a:rPr lang="en-IN" b="1" dirty="0">
                <a:latin typeface="Times New Roman" panose="02020603050405020304" pitchFamily="18" charset="0"/>
                <a:cs typeface="Times New Roman" panose="02020603050405020304" pitchFamily="18" charset="0"/>
              </a:rPr>
              <a:t>Duration: </a:t>
            </a:r>
            <a:r>
              <a:rPr lang="en-IN" dirty="0">
                <a:latin typeface="Times New Roman" panose="02020603050405020304" pitchFamily="18" charset="0"/>
                <a:cs typeface="Times New Roman" panose="02020603050405020304" pitchFamily="18" charset="0"/>
              </a:rPr>
              <a:t>12 weeks with follow-up of 52 weeks, 1 hour per session, 1 session every day</a:t>
            </a:r>
          </a:p>
          <a:p>
            <a:pPr lvl="0" algn="just"/>
            <a:r>
              <a:rPr lang="en-IN" b="1" dirty="0">
                <a:latin typeface="Times New Roman" panose="02020603050405020304" pitchFamily="18" charset="0"/>
                <a:cs typeface="Times New Roman" panose="02020603050405020304" pitchFamily="18" charset="0"/>
              </a:rPr>
              <a:t>Primary Endpoint:</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Change in MDS-UPDRS score from baseline to Week 12 (improvement of the score of 3-6 points) and p &lt; 0.05 </a:t>
            </a:r>
          </a:p>
          <a:p>
            <a:pPr lvl="0" algn="just"/>
            <a:r>
              <a:rPr lang="en-IN" b="1" dirty="0">
                <a:latin typeface="Times New Roman" panose="02020603050405020304" pitchFamily="18" charset="0"/>
                <a:cs typeface="Times New Roman" panose="02020603050405020304" pitchFamily="18" charset="0"/>
              </a:rPr>
              <a:t>Secondary Endpoints: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Change in total MDS-UPDRS score</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Change in OFF time </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Improvement in quality of life</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Gait metrics: Timed Up-and-Go, gait speed, stride length</a:t>
            </a:r>
          </a:p>
        </p:txBody>
      </p:sp>
      <p:sp>
        <p:nvSpPr>
          <p:cNvPr id="3" name="Rectangle 2">
            <a:extLst>
              <a:ext uri="{FF2B5EF4-FFF2-40B4-BE49-F238E27FC236}">
                <a16:creationId xmlns:a16="http://schemas.microsoft.com/office/drawing/2014/main" id="{95121A92-D0A4-585F-4A65-95EDEB8BC515}"/>
              </a:ext>
            </a:extLst>
          </p:cNvPr>
          <p:cNvSpPr/>
          <p:nvPr/>
        </p:nvSpPr>
        <p:spPr>
          <a:xfrm>
            <a:off x="7220932" y="1824639"/>
            <a:ext cx="4836735" cy="452431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285750" lvl="0" indent="-285750" algn="just">
              <a:buFont typeface="Courier New" panose="02070309020205020404" pitchFamily="49" charset="0"/>
              <a:buChar char="o"/>
            </a:pPr>
            <a:r>
              <a:rPr lang="en-IN" sz="1550" b="1" dirty="0">
                <a:latin typeface="Times New Roman" panose="02020603050405020304" pitchFamily="18" charset="0"/>
                <a:cs typeface="Times New Roman" panose="02020603050405020304" pitchFamily="18" charset="0"/>
              </a:rPr>
              <a:t>Included Patients:</a:t>
            </a:r>
          </a:p>
          <a:p>
            <a:pPr marL="285750" indent="-285750" algn="just">
              <a:buFont typeface="Arial" panose="020B0604020202020204" pitchFamily="34" charset="0"/>
              <a:buChar char="•"/>
            </a:pPr>
            <a:r>
              <a:rPr lang="en-IN" sz="1550" dirty="0">
                <a:latin typeface="Times New Roman" panose="02020603050405020304" pitchFamily="18" charset="0"/>
                <a:cs typeface="Times New Roman" panose="02020603050405020304" pitchFamily="18" charset="0"/>
              </a:rPr>
              <a:t>Idiopathic Parkinson’s disease</a:t>
            </a:r>
          </a:p>
          <a:p>
            <a:pPr marL="285750" indent="-285750" algn="just">
              <a:buFont typeface="Arial" panose="020B0604020202020204" pitchFamily="34" charset="0"/>
              <a:buChar char="•"/>
            </a:pPr>
            <a:r>
              <a:rPr lang="en-IN" sz="1550" dirty="0">
                <a:latin typeface="Times New Roman" panose="02020603050405020304" pitchFamily="18" charset="0"/>
                <a:cs typeface="Times New Roman" panose="02020603050405020304" pitchFamily="18" charset="0"/>
              </a:rPr>
              <a:t>Hoehn &amp; Yahr Stage II-III</a:t>
            </a:r>
          </a:p>
          <a:p>
            <a:pPr marL="285750" indent="-285750" algn="just">
              <a:buFont typeface="Arial" panose="020B0604020202020204" pitchFamily="34" charset="0"/>
              <a:buChar char="•"/>
            </a:pPr>
            <a:r>
              <a:rPr lang="en-IN" sz="1550" dirty="0">
                <a:latin typeface="Times New Roman" panose="02020603050405020304" pitchFamily="18" charset="0"/>
                <a:cs typeface="Times New Roman" panose="02020603050405020304" pitchFamily="18" charset="0"/>
              </a:rPr>
              <a:t>MDS-UPDRS III score: 10–48</a:t>
            </a:r>
          </a:p>
          <a:p>
            <a:pPr marL="285750" indent="-285750" algn="just">
              <a:buFont typeface="Arial" panose="020B0604020202020204" pitchFamily="34" charset="0"/>
              <a:buChar char="•"/>
            </a:pPr>
            <a:r>
              <a:rPr lang="en-IN" sz="1550" dirty="0">
                <a:latin typeface="Times New Roman" panose="02020603050405020304" pitchFamily="18" charset="0"/>
                <a:cs typeface="Times New Roman" panose="02020603050405020304" pitchFamily="18" charset="0"/>
              </a:rPr>
              <a:t>Ages 45–80 years</a:t>
            </a:r>
          </a:p>
          <a:p>
            <a:pPr marL="285750" indent="-285750" algn="just">
              <a:buFont typeface="Arial" panose="020B0604020202020204" pitchFamily="34" charset="0"/>
              <a:buChar char="•"/>
            </a:pPr>
            <a:r>
              <a:rPr lang="en-IN" sz="1550" dirty="0">
                <a:latin typeface="Times New Roman" panose="02020603050405020304" pitchFamily="18" charset="0"/>
                <a:cs typeface="Times New Roman" panose="02020603050405020304" pitchFamily="18" charset="0"/>
              </a:rPr>
              <a:t>Stable dopaminergic treatment ≥4 weeks but no major improvements</a:t>
            </a:r>
          </a:p>
          <a:p>
            <a:pPr marL="285750" indent="-285750" algn="just">
              <a:buFont typeface="Arial" panose="020B0604020202020204" pitchFamily="34" charset="0"/>
              <a:buChar char="•"/>
            </a:pPr>
            <a:r>
              <a:rPr lang="en-IN" sz="1550" dirty="0">
                <a:latin typeface="Times New Roman" panose="02020603050405020304" pitchFamily="18" charset="0"/>
                <a:cs typeface="Times New Roman" panose="02020603050405020304" pitchFamily="18" charset="0"/>
              </a:rPr>
              <a:t>Willing to use device at home and attend EEG calibration visits</a:t>
            </a:r>
          </a:p>
          <a:p>
            <a:pPr algn="just"/>
            <a:r>
              <a:rPr lang="en-IN" sz="1550" dirty="0">
                <a:latin typeface="Times New Roman" panose="02020603050405020304" pitchFamily="18" charset="0"/>
                <a:cs typeface="Times New Roman" panose="02020603050405020304" pitchFamily="18" charset="0"/>
              </a:rPr>
              <a:t> </a:t>
            </a:r>
          </a:p>
          <a:p>
            <a:pPr marL="285750" lvl="0" indent="-285750" algn="just">
              <a:buFont typeface="Courier New" panose="02070309020205020404" pitchFamily="49" charset="0"/>
              <a:buChar char="o"/>
            </a:pPr>
            <a:r>
              <a:rPr lang="en-IN" sz="1550" b="1" dirty="0">
                <a:latin typeface="Times New Roman" panose="02020603050405020304" pitchFamily="18" charset="0"/>
                <a:cs typeface="Times New Roman" panose="02020603050405020304" pitchFamily="18" charset="0"/>
              </a:rPr>
              <a:t>Excluded Patients:</a:t>
            </a:r>
          </a:p>
          <a:p>
            <a:pPr marL="285750" indent="-285750" algn="just">
              <a:buFont typeface="Arial" panose="020B0604020202020204" pitchFamily="34" charset="0"/>
              <a:buChar char="•"/>
            </a:pPr>
            <a:r>
              <a:rPr lang="en-IN" sz="1550" dirty="0">
                <a:latin typeface="Times New Roman" panose="02020603050405020304" pitchFamily="18" charset="0"/>
                <a:cs typeface="Times New Roman" panose="02020603050405020304" pitchFamily="18" charset="0"/>
              </a:rPr>
              <a:t>Implanted electrical or ferromagnetic devices</a:t>
            </a:r>
          </a:p>
          <a:p>
            <a:pPr marL="285750" indent="-285750" algn="just">
              <a:buFont typeface="Arial" panose="020B0604020202020204" pitchFamily="34" charset="0"/>
              <a:buChar char="•"/>
            </a:pPr>
            <a:r>
              <a:rPr lang="en-IN" sz="1550" dirty="0">
                <a:latin typeface="Times New Roman" panose="02020603050405020304" pitchFamily="18" charset="0"/>
                <a:cs typeface="Times New Roman" panose="02020603050405020304" pitchFamily="18" charset="0"/>
              </a:rPr>
              <a:t>History of epilepsy or seizure disorder</a:t>
            </a:r>
          </a:p>
          <a:p>
            <a:pPr marL="285750" indent="-285750" algn="just">
              <a:buFont typeface="Arial" panose="020B0604020202020204" pitchFamily="34" charset="0"/>
              <a:buChar char="•"/>
            </a:pPr>
            <a:r>
              <a:rPr lang="en-IN" sz="1550" dirty="0">
                <a:latin typeface="Times New Roman" panose="02020603050405020304" pitchFamily="18" charset="0"/>
                <a:cs typeface="Times New Roman" panose="02020603050405020304" pitchFamily="18" charset="0"/>
              </a:rPr>
              <a:t>Atypical or secondary parkinsonism </a:t>
            </a:r>
          </a:p>
          <a:p>
            <a:pPr marL="285750" indent="-285750" algn="just">
              <a:buFont typeface="Arial" panose="020B0604020202020204" pitchFamily="34" charset="0"/>
              <a:buChar char="•"/>
            </a:pPr>
            <a:r>
              <a:rPr lang="en-IN" sz="1550" dirty="0">
                <a:latin typeface="Times New Roman" panose="02020603050405020304" pitchFamily="18" charset="0"/>
                <a:cs typeface="Times New Roman" panose="02020603050405020304" pitchFamily="18" charset="0"/>
              </a:rPr>
              <a:t>Severe psychiatric illness or moderate–severe cognitive impairment</a:t>
            </a:r>
          </a:p>
          <a:p>
            <a:pPr marL="285750" indent="-285750" algn="just">
              <a:buFont typeface="Arial" panose="020B0604020202020204" pitchFamily="34" charset="0"/>
              <a:buChar char="•"/>
            </a:pPr>
            <a:r>
              <a:rPr lang="en-IN" sz="1550" dirty="0">
                <a:latin typeface="Times New Roman" panose="02020603050405020304" pitchFamily="18" charset="0"/>
                <a:cs typeface="Times New Roman" panose="02020603050405020304" pitchFamily="18" charset="0"/>
              </a:rPr>
              <a:t>Significant comorbidities </a:t>
            </a:r>
          </a:p>
          <a:p>
            <a:pPr marL="285750" indent="-285750" algn="just">
              <a:buFont typeface="Arial" panose="020B0604020202020204" pitchFamily="34" charset="0"/>
              <a:buChar char="•"/>
            </a:pPr>
            <a:r>
              <a:rPr lang="en-IN" sz="1550" dirty="0">
                <a:latin typeface="Times New Roman" panose="02020603050405020304" pitchFamily="18" charset="0"/>
                <a:cs typeface="Times New Roman" panose="02020603050405020304" pitchFamily="18" charset="0"/>
              </a:rPr>
              <a:t>MRI/CT evidence of lesions or abnormalities inconsistent with idiopathic PD</a:t>
            </a:r>
          </a:p>
        </p:txBody>
      </p:sp>
    </p:spTree>
    <p:extLst>
      <p:ext uri="{BB962C8B-B14F-4D97-AF65-F5344CB8AC3E}">
        <p14:creationId xmlns:p14="http://schemas.microsoft.com/office/powerpoint/2010/main" val="318840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E1E0E-1EBE-4A88-1C2B-6705908200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4D9687-1FCF-1CB9-20D1-8F9693036D33}"/>
              </a:ext>
            </a:extLst>
          </p:cNvPr>
          <p:cNvSpPr>
            <a:spLocks noGrp="1"/>
          </p:cNvSpPr>
          <p:nvPr>
            <p:ph type="title"/>
          </p:nvPr>
        </p:nvSpPr>
        <p:spPr>
          <a:xfrm>
            <a:off x="1066800" y="509047"/>
            <a:ext cx="10058400" cy="1123696"/>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Designing a Clinical Trial</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 </a:t>
            </a:r>
            <a:r>
              <a:rPr lang="en-IN" dirty="0">
                <a:latin typeface="Times New Roman" panose="02020603050405020304" pitchFamily="18" charset="0"/>
                <a:cs typeface="Times New Roman" panose="02020603050405020304" pitchFamily="18" charset="0"/>
              </a:rPr>
              <a:t>PIVOTAL PHASE 3 CLINICAL TRIAL</a:t>
            </a:r>
          </a:p>
        </p:txBody>
      </p:sp>
      <p:pic>
        <p:nvPicPr>
          <p:cNvPr id="7" name="Picture 6">
            <a:extLst>
              <a:ext uri="{FF2B5EF4-FFF2-40B4-BE49-F238E27FC236}">
                <a16:creationId xmlns:a16="http://schemas.microsoft.com/office/drawing/2014/main" id="{201D14B6-9BAB-6A93-A34F-06A067BF9F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9574" y="1783543"/>
            <a:ext cx="9132852" cy="4480569"/>
          </a:xfrm>
          <a:prstGeom prst="rect">
            <a:avLst/>
          </a:prstGeom>
        </p:spPr>
      </p:pic>
    </p:spTree>
    <p:extLst>
      <p:ext uri="{BB962C8B-B14F-4D97-AF65-F5344CB8AC3E}">
        <p14:creationId xmlns:p14="http://schemas.microsoft.com/office/powerpoint/2010/main" val="35215488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AD9AA-803D-9385-E726-8F05BB91DB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B35C15-4F1B-DE34-2459-6D8AEF7EA918}"/>
              </a:ext>
            </a:extLst>
          </p:cNvPr>
          <p:cNvSpPr>
            <a:spLocks noGrp="1"/>
          </p:cNvSpPr>
          <p:nvPr>
            <p:ph type="title"/>
          </p:nvPr>
        </p:nvSpPr>
        <p:spPr>
          <a:xfrm>
            <a:off x="1066800" y="876693"/>
            <a:ext cx="10058400" cy="756050"/>
          </a:xfrm>
        </p:spPr>
        <p:txBody>
          <a:bodyPr>
            <a:normAutofit/>
          </a:bodyPr>
          <a:lstStyle/>
          <a:p>
            <a:pPr algn="ctr"/>
            <a:r>
              <a:rPr lang="en-US" b="1" dirty="0">
                <a:latin typeface="Times New Roman" panose="02020603050405020304" pitchFamily="18" charset="0"/>
                <a:cs typeface="Times New Roman" panose="02020603050405020304" pitchFamily="18" charset="0"/>
              </a:rPr>
              <a:t>Device Clearance</a:t>
            </a:r>
            <a:endParaRPr lang="en-IN" dirty="0">
              <a:latin typeface="Times New Roman" panose="02020603050405020304" pitchFamily="18" charset="0"/>
              <a:cs typeface="Times New Roman" panose="02020603050405020304" pitchFamily="18" charset="0"/>
            </a:endParaRPr>
          </a:p>
        </p:txBody>
      </p:sp>
      <p:graphicFrame>
        <p:nvGraphicFramePr>
          <p:cNvPr id="3" name="Diagram 2">
            <a:extLst>
              <a:ext uri="{FF2B5EF4-FFF2-40B4-BE49-F238E27FC236}">
                <a16:creationId xmlns:a16="http://schemas.microsoft.com/office/drawing/2014/main" id="{316E77DB-88B6-43E5-1BD5-49E058CA46A6}"/>
              </a:ext>
            </a:extLst>
          </p:cNvPr>
          <p:cNvGraphicFramePr/>
          <p:nvPr>
            <p:extLst>
              <p:ext uri="{D42A27DB-BD31-4B8C-83A1-F6EECF244321}">
                <p14:modId xmlns:p14="http://schemas.microsoft.com/office/powerpoint/2010/main" val="200027389"/>
              </p:ext>
            </p:extLst>
          </p:nvPr>
        </p:nvGraphicFramePr>
        <p:xfrm>
          <a:off x="1397785" y="1939545"/>
          <a:ext cx="9396429" cy="2575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a:extLst>
              <a:ext uri="{FF2B5EF4-FFF2-40B4-BE49-F238E27FC236}">
                <a16:creationId xmlns:a16="http://schemas.microsoft.com/office/drawing/2014/main" id="{C26227A8-4BF6-20B2-B8E7-7F40584A3570}"/>
              </a:ext>
            </a:extLst>
          </p:cNvPr>
          <p:cNvSpPr/>
          <p:nvPr/>
        </p:nvSpPr>
        <p:spPr>
          <a:xfrm>
            <a:off x="1463773" y="4053524"/>
            <a:ext cx="1731914" cy="546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Safety Run-in</a:t>
            </a:r>
          </a:p>
          <a:p>
            <a:pPr algn="ctr"/>
            <a:r>
              <a:rPr lang="en-IN" dirty="0"/>
              <a:t>N=20</a:t>
            </a:r>
          </a:p>
        </p:txBody>
      </p:sp>
      <p:sp>
        <p:nvSpPr>
          <p:cNvPr id="6" name="Rectangle 5">
            <a:extLst>
              <a:ext uri="{FF2B5EF4-FFF2-40B4-BE49-F238E27FC236}">
                <a16:creationId xmlns:a16="http://schemas.microsoft.com/office/drawing/2014/main" id="{7E413607-BDD6-FABB-F385-BA35A988E2FE}"/>
              </a:ext>
            </a:extLst>
          </p:cNvPr>
          <p:cNvSpPr/>
          <p:nvPr/>
        </p:nvSpPr>
        <p:spPr>
          <a:xfrm>
            <a:off x="3982300" y="4072378"/>
            <a:ext cx="1731914" cy="546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Pilot RCT</a:t>
            </a:r>
          </a:p>
          <a:p>
            <a:pPr algn="ctr"/>
            <a:r>
              <a:rPr lang="en-IN" dirty="0"/>
              <a:t>N=60</a:t>
            </a:r>
          </a:p>
        </p:txBody>
      </p:sp>
      <p:sp>
        <p:nvSpPr>
          <p:cNvPr id="7" name="Rectangle 6">
            <a:extLst>
              <a:ext uri="{FF2B5EF4-FFF2-40B4-BE49-F238E27FC236}">
                <a16:creationId xmlns:a16="http://schemas.microsoft.com/office/drawing/2014/main" id="{18BF1135-ED05-45BC-359E-90E6A69D74C5}"/>
              </a:ext>
            </a:extLst>
          </p:cNvPr>
          <p:cNvSpPr/>
          <p:nvPr/>
        </p:nvSpPr>
        <p:spPr>
          <a:xfrm>
            <a:off x="6477788" y="4081803"/>
            <a:ext cx="1731914" cy="546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Pivotal Trial</a:t>
            </a:r>
          </a:p>
          <a:p>
            <a:pPr algn="ctr"/>
            <a:r>
              <a:rPr lang="en-IN" dirty="0"/>
              <a:t>N=360</a:t>
            </a:r>
          </a:p>
        </p:txBody>
      </p:sp>
      <p:cxnSp>
        <p:nvCxnSpPr>
          <p:cNvPr id="9" name="Straight Connector 8">
            <a:extLst>
              <a:ext uri="{FF2B5EF4-FFF2-40B4-BE49-F238E27FC236}">
                <a16:creationId xmlns:a16="http://schemas.microsoft.com/office/drawing/2014/main" id="{EF92E37C-54DD-CB8E-0713-489C46A341A9}"/>
              </a:ext>
            </a:extLst>
          </p:cNvPr>
          <p:cNvCxnSpPr>
            <a:stCxn id="5" idx="2"/>
          </p:cNvCxnSpPr>
          <p:nvPr/>
        </p:nvCxnSpPr>
        <p:spPr>
          <a:xfrm>
            <a:off x="2329730" y="4600279"/>
            <a:ext cx="0" cy="311086"/>
          </a:xfrm>
          <a:prstGeom prst="line">
            <a:avLst/>
          </a:prstGeom>
        </p:spPr>
        <p:style>
          <a:lnRef idx="3">
            <a:schemeClr val="dk1"/>
          </a:lnRef>
          <a:fillRef idx="0">
            <a:schemeClr val="dk1"/>
          </a:fillRef>
          <a:effectRef idx="2">
            <a:schemeClr val="dk1"/>
          </a:effectRef>
          <a:fontRef idx="minor">
            <a:schemeClr val="tx1"/>
          </a:fontRef>
        </p:style>
      </p:cxnSp>
      <p:cxnSp>
        <p:nvCxnSpPr>
          <p:cNvPr id="10" name="Straight Connector 9">
            <a:extLst>
              <a:ext uri="{FF2B5EF4-FFF2-40B4-BE49-F238E27FC236}">
                <a16:creationId xmlns:a16="http://schemas.microsoft.com/office/drawing/2014/main" id="{628CFF80-D388-FC4A-B031-264FA81FA31C}"/>
              </a:ext>
            </a:extLst>
          </p:cNvPr>
          <p:cNvCxnSpPr/>
          <p:nvPr/>
        </p:nvCxnSpPr>
        <p:spPr>
          <a:xfrm>
            <a:off x="4848257" y="4628558"/>
            <a:ext cx="0" cy="311086"/>
          </a:xfrm>
          <a:prstGeom prst="line">
            <a:avLst/>
          </a:prstGeom>
        </p:spPr>
        <p:style>
          <a:lnRef idx="3">
            <a:schemeClr val="dk1"/>
          </a:lnRef>
          <a:fillRef idx="0">
            <a:schemeClr val="dk1"/>
          </a:fillRef>
          <a:effectRef idx="2">
            <a:schemeClr val="dk1"/>
          </a:effectRef>
          <a:fontRef idx="minor">
            <a:schemeClr val="tx1"/>
          </a:fontRef>
        </p:style>
      </p:cxnSp>
      <p:cxnSp>
        <p:nvCxnSpPr>
          <p:cNvPr id="12" name="Straight Connector 11">
            <a:extLst>
              <a:ext uri="{FF2B5EF4-FFF2-40B4-BE49-F238E27FC236}">
                <a16:creationId xmlns:a16="http://schemas.microsoft.com/office/drawing/2014/main" id="{07054387-11A4-6432-C9D7-967CE2E7A4EB}"/>
              </a:ext>
            </a:extLst>
          </p:cNvPr>
          <p:cNvCxnSpPr/>
          <p:nvPr/>
        </p:nvCxnSpPr>
        <p:spPr>
          <a:xfrm>
            <a:off x="2329730" y="4939644"/>
            <a:ext cx="2518527"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DA64E5B9-9F9B-6018-4895-2E70FD5EB1B3}"/>
              </a:ext>
            </a:extLst>
          </p:cNvPr>
          <p:cNvCxnSpPr/>
          <p:nvPr/>
        </p:nvCxnSpPr>
        <p:spPr>
          <a:xfrm>
            <a:off x="3588993" y="4939644"/>
            <a:ext cx="0" cy="4053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Rectangle 14">
            <a:extLst>
              <a:ext uri="{FF2B5EF4-FFF2-40B4-BE49-F238E27FC236}">
                <a16:creationId xmlns:a16="http://schemas.microsoft.com/office/drawing/2014/main" id="{CA052131-30EB-B33D-0551-D8DBD2244132}"/>
              </a:ext>
            </a:extLst>
          </p:cNvPr>
          <p:cNvSpPr/>
          <p:nvPr/>
        </p:nvSpPr>
        <p:spPr>
          <a:xfrm>
            <a:off x="2632172" y="5472277"/>
            <a:ext cx="1913641" cy="4996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First In-human CT</a:t>
            </a:r>
          </a:p>
        </p:txBody>
      </p:sp>
    </p:spTree>
    <p:extLst>
      <p:ext uri="{BB962C8B-B14F-4D97-AF65-F5344CB8AC3E}">
        <p14:creationId xmlns:p14="http://schemas.microsoft.com/office/powerpoint/2010/main" val="3413868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BEDEE-70B5-C2D5-A971-3EC8BBFD6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35786-680D-69F1-0C36-FFB21E5735D1}"/>
              </a:ext>
            </a:extLst>
          </p:cNvPr>
          <p:cNvSpPr>
            <a:spLocks noGrp="1"/>
          </p:cNvSpPr>
          <p:nvPr>
            <p:ph type="title"/>
          </p:nvPr>
        </p:nvSpPr>
        <p:spPr>
          <a:xfrm>
            <a:off x="1066800" y="509047"/>
            <a:ext cx="10058400" cy="1123696"/>
          </a:xfrm>
        </p:spPr>
        <p:txBody>
          <a:bodyPr>
            <a:normAutofit/>
          </a:bodyPr>
          <a:lstStyle/>
          <a:p>
            <a:pPr algn="ctr"/>
            <a:r>
              <a:rPr lang="en-US" b="1" dirty="0">
                <a:latin typeface="Times New Roman" panose="02020603050405020304" pitchFamily="18" charset="0"/>
                <a:cs typeface="Times New Roman" panose="02020603050405020304" pitchFamily="18" charset="0"/>
              </a:rPr>
              <a:t>Market Entry</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DB0FDCA-E459-4447-A928-4B8E1520174C}"/>
              </a:ext>
            </a:extLst>
          </p:cNvPr>
          <p:cNvSpPr txBox="1"/>
          <p:nvPr/>
        </p:nvSpPr>
        <p:spPr>
          <a:xfrm>
            <a:off x="213674" y="1779687"/>
            <a:ext cx="11764651" cy="646331"/>
          </a:xfrm>
          <a:prstGeom prst="rect">
            <a:avLst/>
          </a:prstGeom>
          <a:noFill/>
        </p:spPr>
        <p:txBody>
          <a:bodyPr wrap="square">
            <a:spAutoFit/>
          </a:bodyPr>
          <a:lstStyle/>
          <a:p>
            <a:pPr lvl="0" algn="just"/>
            <a:r>
              <a:rPr lang="en-IN" dirty="0"/>
              <a:t>Our solution can be estimated to cost $5,000-$10,000 for the hardware and initial model training and another $500- $1,000 annually for follow-up charges, device replacements, and service fees.</a:t>
            </a:r>
          </a:p>
        </p:txBody>
      </p:sp>
      <p:graphicFrame>
        <p:nvGraphicFramePr>
          <p:cNvPr id="3" name="Table 2">
            <a:extLst>
              <a:ext uri="{FF2B5EF4-FFF2-40B4-BE49-F238E27FC236}">
                <a16:creationId xmlns:a16="http://schemas.microsoft.com/office/drawing/2014/main" id="{E1CCC57B-69B3-5336-AB81-FFC8A80A3C9D}"/>
              </a:ext>
            </a:extLst>
          </p:cNvPr>
          <p:cNvGraphicFramePr>
            <a:graphicFrameLocks noGrp="1"/>
          </p:cNvGraphicFramePr>
          <p:nvPr>
            <p:extLst>
              <p:ext uri="{D42A27DB-BD31-4B8C-83A1-F6EECF244321}">
                <p14:modId xmlns:p14="http://schemas.microsoft.com/office/powerpoint/2010/main" val="4085904684"/>
              </p:ext>
            </p:extLst>
          </p:nvPr>
        </p:nvGraphicFramePr>
        <p:xfrm>
          <a:off x="278089" y="2497547"/>
          <a:ext cx="11635820" cy="2804160"/>
        </p:xfrm>
        <a:graphic>
          <a:graphicData uri="http://schemas.openxmlformats.org/drawingml/2006/table">
            <a:tbl>
              <a:tblPr firstRow="1" firstCol="1" bandRow="1">
                <a:tableStyleId>{793D81CF-94F2-401A-BA57-92F5A7B2D0C5}</a:tableStyleId>
              </a:tblPr>
              <a:tblGrid>
                <a:gridCol w="2908955">
                  <a:extLst>
                    <a:ext uri="{9D8B030D-6E8A-4147-A177-3AD203B41FA5}">
                      <a16:colId xmlns:a16="http://schemas.microsoft.com/office/drawing/2014/main" val="4090317040"/>
                    </a:ext>
                  </a:extLst>
                </a:gridCol>
                <a:gridCol w="2908955">
                  <a:extLst>
                    <a:ext uri="{9D8B030D-6E8A-4147-A177-3AD203B41FA5}">
                      <a16:colId xmlns:a16="http://schemas.microsoft.com/office/drawing/2014/main" val="1880779914"/>
                    </a:ext>
                  </a:extLst>
                </a:gridCol>
                <a:gridCol w="2908955">
                  <a:extLst>
                    <a:ext uri="{9D8B030D-6E8A-4147-A177-3AD203B41FA5}">
                      <a16:colId xmlns:a16="http://schemas.microsoft.com/office/drawing/2014/main" val="854070825"/>
                    </a:ext>
                  </a:extLst>
                </a:gridCol>
                <a:gridCol w="2908955">
                  <a:extLst>
                    <a:ext uri="{9D8B030D-6E8A-4147-A177-3AD203B41FA5}">
                      <a16:colId xmlns:a16="http://schemas.microsoft.com/office/drawing/2014/main" val="2788157741"/>
                    </a:ext>
                  </a:extLst>
                </a:gridCol>
              </a:tblGrid>
              <a:tr h="187550">
                <a:tc>
                  <a:txBody>
                    <a:bodyPr/>
                    <a:lstStyle/>
                    <a:p>
                      <a:pPr algn="ctr">
                        <a:buNone/>
                      </a:pPr>
                      <a:r>
                        <a:rPr lang="en-IN" sz="1600" kern="100" dirty="0">
                          <a:effectLst/>
                        </a:rPr>
                        <a:t>Technology</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600" kern="100">
                          <a:effectLst/>
                        </a:rPr>
                        <a:t>Upfront Cost</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600" kern="100">
                          <a:effectLst/>
                        </a:rPr>
                        <a:t>Ongoing Costs</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600" kern="100" dirty="0">
                          <a:effectLst/>
                        </a:rPr>
                        <a:t>Clinical Considerations</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01117585"/>
                  </a:ext>
                </a:extLst>
              </a:tr>
              <a:tr h="375101">
                <a:tc>
                  <a:txBody>
                    <a:bodyPr/>
                    <a:lstStyle/>
                    <a:p>
                      <a:pPr>
                        <a:buNone/>
                      </a:pPr>
                      <a:r>
                        <a:rPr lang="en-IN" sz="1400" kern="100" dirty="0">
                          <a:effectLst/>
                        </a:rPr>
                        <a:t>Deep Brain Stimulation (DBS)</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400" kern="100" dirty="0">
                          <a:effectLst/>
                        </a:rPr>
                        <a:t>$96,000–$120,000 (surgery, hospitalization, device implantation)</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400" kern="100" dirty="0">
                          <a:effectLst/>
                        </a:rPr>
                        <a:t>$2,000–$5,000 annually (adjustments, battery checks, follow-up visits)</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400" kern="100" dirty="0">
                          <a:effectLst/>
                        </a:rPr>
                        <a:t>High motor improvement (~40–50%), but invasive with risks such as infection and hardware malfunction</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83139062"/>
                  </a:ext>
                </a:extLst>
              </a:tr>
              <a:tr h="375101">
                <a:tc>
                  <a:txBody>
                    <a:bodyPr/>
                    <a:lstStyle/>
                    <a:p>
                      <a:pPr>
                        <a:buNone/>
                      </a:pPr>
                      <a:r>
                        <a:rPr lang="en-IN" sz="1400" kern="100">
                          <a:effectLst/>
                        </a:rPr>
                        <a:t>Levodopa &amp; Dopamine Agonists</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400" kern="100">
                          <a:effectLst/>
                        </a:rPr>
                        <a:t>Minimal upfront</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400" kern="100">
                          <a:effectLst/>
                        </a:rPr>
                        <a:t>$2,000–$5,000 annually (medication costs)</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400" kern="100">
                          <a:effectLst/>
                        </a:rPr>
                        <a:t>Effective initially but leads to wearing-off, dyskinesias, and increased dosage over time</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6059625"/>
                  </a:ext>
                </a:extLst>
              </a:tr>
              <a:tr h="375101">
                <a:tc>
                  <a:txBody>
                    <a:bodyPr/>
                    <a:lstStyle/>
                    <a:p>
                      <a:pPr>
                        <a:buNone/>
                      </a:pPr>
                      <a:r>
                        <a:rPr lang="en-IN" sz="1400" kern="100">
                          <a:effectLst/>
                        </a:rPr>
                        <a:t>Transcranial Magnetic Stimulation (TMS)</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400" kern="100">
                          <a:effectLst/>
                        </a:rPr>
                        <a:t>None for patients</a:t>
                      </a:r>
                    </a:p>
                    <a:p>
                      <a:pPr>
                        <a:buNone/>
                      </a:pPr>
                      <a:r>
                        <a:rPr lang="en-IN" sz="1400" kern="100">
                          <a:effectLst/>
                        </a:rPr>
                        <a:t>Clinic-owned systems cost $80k–$120k</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400" kern="100">
                          <a:effectLst/>
                        </a:rPr>
                        <a:t>$300–$500 per session, typically 20–36 sessions needed</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400" kern="100">
                          <a:effectLst/>
                        </a:rPr>
                        <a:t>Non-invasive but bulky, clinic-based, and open-loop with variable effectiveness</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58578227"/>
                  </a:ext>
                </a:extLst>
              </a:tr>
              <a:tr h="375101">
                <a:tc>
                  <a:txBody>
                    <a:bodyPr/>
                    <a:lstStyle/>
                    <a:p>
                      <a:pPr>
                        <a:buNone/>
                      </a:pPr>
                      <a:r>
                        <a:rPr lang="en-IN" sz="1400" kern="100">
                          <a:effectLst/>
                        </a:rPr>
                        <a:t>Our proposed solution (Wearable Closed-Loop Neuromodulation Cap)</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400" kern="100">
                          <a:effectLst/>
                        </a:rPr>
                        <a:t>$5,000–$10,000 (hardware + initial model training)</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400" kern="100">
                          <a:effectLst/>
                        </a:rPr>
                        <a:t>$500–$1,000 annually (service, replacements, recalibration)</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400" kern="100" dirty="0">
                          <a:effectLst/>
                        </a:rPr>
                        <a:t>Non-invasive, portable, personalized closed-loop stimulation with home-use compatibility</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63823585"/>
                  </a:ext>
                </a:extLst>
              </a:tr>
            </a:tbl>
          </a:graphicData>
        </a:graphic>
      </p:graphicFrame>
      <p:sp>
        <p:nvSpPr>
          <p:cNvPr id="6" name="TextBox 5">
            <a:extLst>
              <a:ext uri="{FF2B5EF4-FFF2-40B4-BE49-F238E27FC236}">
                <a16:creationId xmlns:a16="http://schemas.microsoft.com/office/drawing/2014/main" id="{64F5ADD7-1070-5BF1-871A-1FEDACB806B2}"/>
              </a:ext>
            </a:extLst>
          </p:cNvPr>
          <p:cNvSpPr txBox="1"/>
          <p:nvPr/>
        </p:nvSpPr>
        <p:spPr>
          <a:xfrm>
            <a:off x="213675" y="5431980"/>
            <a:ext cx="11764650" cy="646331"/>
          </a:xfrm>
          <a:prstGeom prst="rect">
            <a:avLst/>
          </a:prstGeom>
          <a:noFill/>
        </p:spPr>
        <p:txBody>
          <a:bodyPr wrap="square">
            <a:spAutoFit/>
          </a:bodyPr>
          <a:lstStyle/>
          <a:p>
            <a:r>
              <a:rPr lang="en-IN" sz="1800" dirty="0">
                <a:effectLst/>
                <a:latin typeface="Times New Roman" panose="02020603050405020304" pitchFamily="18" charset="0"/>
                <a:ea typeface="Calibri" panose="020F0502020204030204" pitchFamily="34" charset="0"/>
              </a:rPr>
              <a:t>We can define the value proposition of our proposed solution by cost-offset against DBS, better method of treatment as compared to TMS, and cost-avoidance against Levodopa complications.</a:t>
            </a:r>
            <a:endParaRPr lang="en-IN" dirty="0"/>
          </a:p>
        </p:txBody>
      </p:sp>
    </p:spTree>
    <p:extLst>
      <p:ext uri="{BB962C8B-B14F-4D97-AF65-F5344CB8AC3E}">
        <p14:creationId xmlns:p14="http://schemas.microsoft.com/office/powerpoint/2010/main" val="54507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A9347-49F1-F658-4401-8452053897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FD275E-29CA-97EF-35C3-DF0D1B5880F4}"/>
              </a:ext>
            </a:extLst>
          </p:cNvPr>
          <p:cNvSpPr>
            <a:spLocks noGrp="1"/>
          </p:cNvSpPr>
          <p:nvPr>
            <p:ph type="title"/>
          </p:nvPr>
        </p:nvSpPr>
        <p:spPr>
          <a:xfrm>
            <a:off x="1066800" y="509047"/>
            <a:ext cx="10058400" cy="1123696"/>
          </a:xfrm>
        </p:spPr>
        <p:txBody>
          <a:bodyPr>
            <a:normAutofit/>
          </a:bodyPr>
          <a:lstStyle/>
          <a:p>
            <a:pPr algn="ctr"/>
            <a:r>
              <a:rPr lang="en-US" b="1" dirty="0">
                <a:latin typeface="Times New Roman" panose="02020603050405020304" pitchFamily="18" charset="0"/>
                <a:cs typeface="Times New Roman" panose="02020603050405020304" pitchFamily="18" charset="0"/>
              </a:rPr>
              <a:t>Market Entry</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CC8ABE0-0473-F394-775E-D14B6320E755}"/>
              </a:ext>
            </a:extLst>
          </p:cNvPr>
          <p:cNvSpPr txBox="1"/>
          <p:nvPr/>
        </p:nvSpPr>
        <p:spPr>
          <a:xfrm>
            <a:off x="546754" y="1907392"/>
            <a:ext cx="11085921" cy="3416320"/>
          </a:xfrm>
          <a:prstGeom prst="rect">
            <a:avLst/>
          </a:prstGeom>
          <a:noFill/>
        </p:spPr>
        <p:txBody>
          <a:bodyPr wrap="square">
            <a:spAutoFit/>
          </a:bodyPr>
          <a:lstStyle/>
          <a:p>
            <a:pPr algn="just">
              <a:buNone/>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Once being cleared to be classified as a De Novo Class II device, De Novo will create an entirely new classification for wearable, multi-coil, closed-loop magnetic neuromodulation for Parkinson’s Disease. Hence, our device will become the standard of reference for all future technologies in the same space. Therefore, competitors cannot use a 510(k) shortcut because no predicate exists before our device is classified by De Novo, which will make it the predicate.</a:t>
            </a:r>
          </a:p>
          <a:p>
            <a:pPr algn="just">
              <a:buNone/>
            </a:pPr>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a:p>
            <a:pPr algn="just">
              <a:buNone/>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Furthermore, our integrates multiple technical innovations that are not present in existing therapies, including:</a:t>
            </a:r>
          </a:p>
          <a:p>
            <a:pPr marL="800100" lvl="1" indent="-342900" algn="just">
              <a:buFont typeface="Symbol" panose="05050102010706020507" pitchFamily="18" charset="2"/>
              <a:buChar char=""/>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A flexible multi-coil magnetic stimulation array.</a:t>
            </a:r>
          </a:p>
          <a:p>
            <a:pPr marL="800100" lvl="1" indent="-342900" algn="just">
              <a:buFont typeface="Symbol" panose="05050102010706020507" pitchFamily="18" charset="2"/>
              <a:buChar char=""/>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Embedded EEG sensors for real-time neural monitoring.</a:t>
            </a:r>
          </a:p>
          <a:p>
            <a:pPr marL="800100" lvl="1" indent="-342900" algn="just">
              <a:buFont typeface="Symbol" panose="05050102010706020507" pitchFamily="18" charset="2"/>
              <a:buChar char=""/>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Closed-loop algorithm supported by an artifact-blanking amplifier to prevent EEG interference.</a:t>
            </a:r>
          </a:p>
          <a:p>
            <a:pPr algn="just">
              <a:buNone/>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Each of these components required novel engineering decisions and would require a company to invest substantial time, research, and capital to replicate our design.</a:t>
            </a:r>
          </a:p>
        </p:txBody>
      </p:sp>
    </p:spTree>
    <p:extLst>
      <p:ext uri="{BB962C8B-B14F-4D97-AF65-F5344CB8AC3E}">
        <p14:creationId xmlns:p14="http://schemas.microsoft.com/office/powerpoint/2010/main" val="33692267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DD58C-18CF-2403-D365-E69D53E773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A8DCEF-4DF9-E432-17A8-0E85EBDF983E}"/>
              </a:ext>
            </a:extLst>
          </p:cNvPr>
          <p:cNvSpPr>
            <a:spLocks noGrp="1"/>
          </p:cNvSpPr>
          <p:nvPr>
            <p:ph type="title"/>
          </p:nvPr>
        </p:nvSpPr>
        <p:spPr>
          <a:xfrm>
            <a:off x="1066800" y="509047"/>
            <a:ext cx="10058400" cy="1123696"/>
          </a:xfrm>
        </p:spPr>
        <p:txBody>
          <a:bodyPr>
            <a:normAutofit/>
          </a:bodyPr>
          <a:lstStyle/>
          <a:p>
            <a:pPr algn="ctr"/>
            <a:r>
              <a:rPr lang="en-US" b="1" dirty="0">
                <a:latin typeface="Times New Roman" panose="02020603050405020304" pitchFamily="18" charset="0"/>
                <a:cs typeface="Times New Roman" panose="02020603050405020304" pitchFamily="18" charset="0"/>
              </a:rPr>
              <a:t>Market Entry</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5F6BF78-CC33-2219-5B89-1C124ECC80BA}"/>
              </a:ext>
            </a:extLst>
          </p:cNvPr>
          <p:cNvSpPr txBox="1"/>
          <p:nvPr/>
        </p:nvSpPr>
        <p:spPr>
          <a:xfrm>
            <a:off x="553039" y="1756563"/>
            <a:ext cx="11085921" cy="1477328"/>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A company in neuromodulation, </a:t>
            </a:r>
            <a:r>
              <a:rPr lang="en-IN" dirty="0" err="1">
                <a:latin typeface="Times New Roman" panose="02020603050405020304" pitchFamily="18" charset="0"/>
                <a:cs typeface="Times New Roman" panose="02020603050405020304" pitchFamily="18" charset="0"/>
              </a:rPr>
              <a:t>Neuromod</a:t>
            </a:r>
            <a:r>
              <a:rPr lang="en-IN" dirty="0">
                <a:latin typeface="Times New Roman" panose="02020603050405020304" pitchFamily="18" charset="0"/>
                <a:cs typeface="Times New Roman" panose="02020603050405020304" pitchFamily="18" charset="0"/>
              </a:rPr>
              <a:t> Devices Ltd., obtained De Novo clearance from the FDA for their device, </a:t>
            </a:r>
            <a:r>
              <a:rPr lang="en-IN" dirty="0" err="1">
                <a:latin typeface="Times New Roman" panose="02020603050405020304" pitchFamily="18" charset="0"/>
                <a:cs typeface="Times New Roman" panose="02020603050405020304" pitchFamily="18" charset="0"/>
              </a:rPr>
              <a:t>Lenire</a:t>
            </a:r>
            <a:r>
              <a:rPr lang="en-IN" dirty="0">
                <a:latin typeface="Times New Roman" panose="02020603050405020304" pitchFamily="18" charset="0"/>
                <a:cs typeface="Times New Roman" panose="02020603050405020304" pitchFamily="18" charset="0"/>
              </a:rPr>
              <a:t>, a non-invasive, bimodal neuromodulation device for tinnitus. According to reports, their total estimated cost of regulatory activities ranged from $7–10 million. As our device will have to take a similar path as </a:t>
            </a:r>
            <a:r>
              <a:rPr lang="en-IN" dirty="0" err="1">
                <a:latin typeface="Times New Roman" panose="02020603050405020304" pitchFamily="18" charset="0"/>
                <a:cs typeface="Times New Roman" panose="02020603050405020304" pitchFamily="18" charset="0"/>
              </a:rPr>
              <a:t>Lenire</a:t>
            </a:r>
            <a:r>
              <a:rPr lang="en-IN" dirty="0">
                <a:latin typeface="Times New Roman" panose="02020603050405020304" pitchFamily="18" charset="0"/>
                <a:cs typeface="Times New Roman" panose="02020603050405020304" pitchFamily="18" charset="0"/>
              </a:rPr>
              <a:t> in terms of clearance, we can also expect an estimate consistent with neuromodulation companies developing Class II non-invasive brain-stimulation devices.</a:t>
            </a:r>
          </a:p>
        </p:txBody>
      </p:sp>
      <p:graphicFrame>
        <p:nvGraphicFramePr>
          <p:cNvPr id="3" name="Table 2">
            <a:extLst>
              <a:ext uri="{FF2B5EF4-FFF2-40B4-BE49-F238E27FC236}">
                <a16:creationId xmlns:a16="http://schemas.microsoft.com/office/drawing/2014/main" id="{33263C6D-8CC7-16B4-2322-A6A281C94F7A}"/>
              </a:ext>
            </a:extLst>
          </p:cNvPr>
          <p:cNvGraphicFramePr>
            <a:graphicFrameLocks noGrp="1"/>
          </p:cNvGraphicFramePr>
          <p:nvPr>
            <p:extLst>
              <p:ext uri="{D42A27DB-BD31-4B8C-83A1-F6EECF244321}">
                <p14:modId xmlns:p14="http://schemas.microsoft.com/office/powerpoint/2010/main" val="1326850836"/>
              </p:ext>
            </p:extLst>
          </p:nvPr>
        </p:nvGraphicFramePr>
        <p:xfrm>
          <a:off x="424206" y="3233890"/>
          <a:ext cx="11293312" cy="1920657"/>
        </p:xfrm>
        <a:graphic>
          <a:graphicData uri="http://schemas.openxmlformats.org/drawingml/2006/table">
            <a:tbl>
              <a:tblPr firstRow="1" firstCol="1" bandRow="1">
                <a:tableStyleId>{5C22544A-7EE6-4342-B048-85BDC9FD1C3A}</a:tableStyleId>
              </a:tblPr>
              <a:tblGrid>
                <a:gridCol w="895547">
                  <a:extLst>
                    <a:ext uri="{9D8B030D-6E8A-4147-A177-3AD203B41FA5}">
                      <a16:colId xmlns:a16="http://schemas.microsoft.com/office/drawing/2014/main" val="3588434380"/>
                    </a:ext>
                  </a:extLst>
                </a:gridCol>
                <a:gridCol w="1495731">
                  <a:extLst>
                    <a:ext uri="{9D8B030D-6E8A-4147-A177-3AD203B41FA5}">
                      <a16:colId xmlns:a16="http://schemas.microsoft.com/office/drawing/2014/main" val="1356557605"/>
                    </a:ext>
                  </a:extLst>
                </a:gridCol>
                <a:gridCol w="8902034">
                  <a:extLst>
                    <a:ext uri="{9D8B030D-6E8A-4147-A177-3AD203B41FA5}">
                      <a16:colId xmlns:a16="http://schemas.microsoft.com/office/drawing/2014/main" val="3653208624"/>
                    </a:ext>
                  </a:extLst>
                </a:gridCol>
              </a:tblGrid>
              <a:tr h="533549">
                <a:tc>
                  <a:txBody>
                    <a:bodyPr/>
                    <a:lstStyle/>
                    <a:p>
                      <a:pPr algn="ctr">
                        <a:buNone/>
                      </a:pPr>
                      <a:r>
                        <a:rPr lang="en-IN" sz="1400" kern="100">
                          <a:effectLst/>
                          <a:latin typeface="Times New Roman" panose="02020603050405020304" pitchFamily="18" charset="0"/>
                          <a:cs typeface="Times New Roman" panose="02020603050405020304" pitchFamily="18" charset="0"/>
                        </a:rPr>
                        <a:t>Funding Stage</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400" kern="100">
                          <a:effectLst/>
                          <a:latin typeface="Times New Roman" panose="02020603050405020304" pitchFamily="18" charset="0"/>
                          <a:cs typeface="Times New Roman" panose="02020603050405020304" pitchFamily="18" charset="0"/>
                        </a:rPr>
                        <a:t>Amount Requested</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400" kern="100">
                          <a:effectLst/>
                          <a:latin typeface="Times New Roman" panose="02020603050405020304" pitchFamily="18" charset="0"/>
                          <a:cs typeface="Times New Roman" panose="02020603050405020304" pitchFamily="18" charset="0"/>
                        </a:rPr>
                        <a:t>Key Milestones</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54395586"/>
                  </a:ext>
                </a:extLst>
              </a:tr>
              <a:tr h="480194">
                <a:tc>
                  <a:txBody>
                    <a:bodyPr/>
                    <a:lstStyle/>
                    <a:p>
                      <a:pPr algn="ctr">
                        <a:buNone/>
                      </a:pPr>
                      <a:r>
                        <a:rPr lang="en-IN" sz="1400" kern="100">
                          <a:effectLst/>
                          <a:latin typeface="Times New Roman" panose="02020603050405020304" pitchFamily="18" charset="0"/>
                          <a:cs typeface="Times New Roman" panose="02020603050405020304" pitchFamily="18" charset="0"/>
                        </a:rPr>
                        <a:t>Seed Round</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800" kern="100">
                          <a:effectLst/>
                          <a:latin typeface="Times New Roman" panose="02020603050405020304" pitchFamily="18" charset="0"/>
                          <a:cs typeface="Times New Roman" panose="02020603050405020304" pitchFamily="18" charset="0"/>
                        </a:rPr>
                        <a:t>$2.0M</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buNone/>
                      </a:pPr>
                      <a:r>
                        <a:rPr lang="en-IN" sz="1400" kern="100">
                          <a:effectLst/>
                          <a:latin typeface="Times New Roman" panose="02020603050405020304" pitchFamily="18" charset="0"/>
                          <a:cs typeface="Times New Roman" panose="02020603050405020304" pitchFamily="18" charset="0"/>
                        </a:rPr>
                        <a:t>Hardware prototype development, multi-coil array fabrication, EEG integration + blanking amplifier implementation, bench testing (thermal, electromagnetic, safety), pre-submission FDA Q-Sub meeting</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43544310"/>
                  </a:ext>
                </a:extLst>
              </a:tr>
              <a:tr h="240097">
                <a:tc>
                  <a:txBody>
                    <a:bodyPr/>
                    <a:lstStyle/>
                    <a:p>
                      <a:pPr algn="ctr">
                        <a:buNone/>
                      </a:pPr>
                      <a:r>
                        <a:rPr lang="en-IN" sz="1400" kern="100">
                          <a:effectLst/>
                          <a:latin typeface="Times New Roman" panose="02020603050405020304" pitchFamily="18" charset="0"/>
                          <a:cs typeface="Times New Roman" panose="02020603050405020304" pitchFamily="18" charset="0"/>
                        </a:rPr>
                        <a:t>Series A</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800" kern="100">
                          <a:effectLst/>
                          <a:latin typeface="Times New Roman" panose="02020603050405020304" pitchFamily="18" charset="0"/>
                          <a:cs typeface="Times New Roman" panose="02020603050405020304" pitchFamily="18" charset="0"/>
                        </a:rPr>
                        <a:t>$3.5M</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buNone/>
                      </a:pPr>
                      <a:r>
                        <a:rPr lang="en-IN" sz="1400" kern="100" dirty="0">
                          <a:effectLst/>
                          <a:latin typeface="Times New Roman" panose="02020603050405020304" pitchFamily="18" charset="0"/>
                          <a:cs typeface="Times New Roman" panose="02020603050405020304" pitchFamily="18" charset="0"/>
                        </a:rPr>
                        <a:t>Early feasibility clinical study, algorithm refinement, manufacturing of 30–40 clinical-grade devices, software V&amp;V, preliminary reimbursement analysis</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84091456"/>
                  </a:ext>
                </a:extLst>
              </a:tr>
              <a:tr h="480194">
                <a:tc>
                  <a:txBody>
                    <a:bodyPr/>
                    <a:lstStyle/>
                    <a:p>
                      <a:pPr algn="ctr">
                        <a:buNone/>
                      </a:pPr>
                      <a:r>
                        <a:rPr lang="en-IN" sz="1400" kern="100">
                          <a:effectLst/>
                          <a:latin typeface="Times New Roman" panose="02020603050405020304" pitchFamily="18" charset="0"/>
                          <a:cs typeface="Times New Roman" panose="02020603050405020304" pitchFamily="18" charset="0"/>
                        </a:rPr>
                        <a:t>Series B</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800" kern="100" dirty="0">
                          <a:effectLst/>
                          <a:latin typeface="Times New Roman" panose="02020603050405020304" pitchFamily="18" charset="0"/>
                          <a:cs typeface="Times New Roman" panose="02020603050405020304" pitchFamily="18" charset="0"/>
                        </a:rPr>
                        <a:t>$3.0M</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buNone/>
                      </a:pPr>
                      <a:r>
                        <a:rPr lang="en-IN" sz="1400" kern="100" dirty="0" err="1">
                          <a:effectLst/>
                          <a:latin typeface="Times New Roman" panose="02020603050405020304" pitchFamily="18" charset="0"/>
                          <a:cs typeface="Times New Roman" panose="02020603050405020304" pitchFamily="18" charset="0"/>
                        </a:rPr>
                        <a:t>Multicenter</a:t>
                      </a:r>
                      <a:r>
                        <a:rPr lang="en-IN" sz="1400" kern="100" dirty="0">
                          <a:effectLst/>
                          <a:latin typeface="Times New Roman" panose="02020603050405020304" pitchFamily="18" charset="0"/>
                          <a:cs typeface="Times New Roman" panose="02020603050405020304" pitchFamily="18" charset="0"/>
                        </a:rPr>
                        <a:t> pivotal RCT, statistical demonstration of motor improvement (MDS-UPDRS III), completion of De Novo submission, manufacturing scale-up and commercialization readiness</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22117273"/>
                  </a:ext>
                </a:extLst>
              </a:tr>
            </a:tbl>
          </a:graphicData>
        </a:graphic>
      </p:graphicFrame>
      <p:sp>
        <p:nvSpPr>
          <p:cNvPr id="5" name="TextBox 4">
            <a:extLst>
              <a:ext uri="{FF2B5EF4-FFF2-40B4-BE49-F238E27FC236}">
                <a16:creationId xmlns:a16="http://schemas.microsoft.com/office/drawing/2014/main" id="{14886E8C-7B21-17AC-A8CA-CA472D717669}"/>
              </a:ext>
            </a:extLst>
          </p:cNvPr>
          <p:cNvSpPr txBox="1"/>
          <p:nvPr/>
        </p:nvSpPr>
        <p:spPr>
          <a:xfrm>
            <a:off x="424206" y="5257502"/>
            <a:ext cx="11293312" cy="830997"/>
          </a:xfrm>
          <a:prstGeom prst="rect">
            <a:avLst/>
          </a:prstGeom>
          <a:noFill/>
        </p:spPr>
        <p:txBody>
          <a:bodyPr wrap="square">
            <a:spAutoFit/>
          </a:bodyPr>
          <a:lstStyle/>
          <a:p>
            <a:pPr algn="ctr"/>
            <a:r>
              <a:rPr lang="en-IN" sz="2400" b="1" dirty="0">
                <a:effectLst/>
                <a:latin typeface="Times New Roman" panose="02020603050405020304" pitchFamily="18" charset="0"/>
                <a:ea typeface="Calibri" panose="020F0502020204030204" pitchFamily="34" charset="0"/>
              </a:rPr>
              <a:t>To achieve first-in-class clearance and commercialization, we are seeking $8.5 million in staged funding.</a:t>
            </a:r>
            <a:endParaRPr lang="en-IN" sz="2400" b="1" dirty="0"/>
          </a:p>
        </p:txBody>
      </p:sp>
    </p:spTree>
    <p:extLst>
      <p:ext uri="{BB962C8B-B14F-4D97-AF65-F5344CB8AC3E}">
        <p14:creationId xmlns:p14="http://schemas.microsoft.com/office/powerpoint/2010/main" val="35565451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19C9C-4FD9-8E27-B184-475650540D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0C671-3DA1-51FF-69E6-33B5DA1B2C89}"/>
              </a:ext>
            </a:extLst>
          </p:cNvPr>
          <p:cNvSpPr>
            <a:spLocks noGrp="1"/>
          </p:cNvSpPr>
          <p:nvPr>
            <p:ph type="title"/>
          </p:nvPr>
        </p:nvSpPr>
        <p:spPr>
          <a:xfrm>
            <a:off x="1066800" y="509047"/>
            <a:ext cx="10058400" cy="1123696"/>
          </a:xfrm>
        </p:spPr>
        <p:txBody>
          <a:bodyPr>
            <a:normAutofit/>
          </a:bodyPr>
          <a:lstStyle/>
          <a:p>
            <a:pPr algn="ctr"/>
            <a:r>
              <a:rPr lang="en-US" b="1"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45ED66C-36A9-82C2-8343-D960D8DA828C}"/>
              </a:ext>
            </a:extLst>
          </p:cNvPr>
          <p:cNvSpPr txBox="1"/>
          <p:nvPr/>
        </p:nvSpPr>
        <p:spPr>
          <a:xfrm>
            <a:off x="553039" y="1870804"/>
            <a:ext cx="11085921" cy="4478149"/>
          </a:xfrm>
          <a:prstGeom prst="rect">
            <a:avLst/>
          </a:prstGeom>
          <a:noFill/>
        </p:spPr>
        <p:txBody>
          <a:bodyPr wrap="square">
            <a:spAutoFit/>
          </a:bodyPr>
          <a:lstStyle/>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P. Dhatrak, A. Lele, and M. Kshirsagar, “Gait analysis and treatment strategies for motor symptoms in Parkinson’s disease: a comprehensive review,” Research on Biomedical Engineering, vol. 41, no. 4, p. 56, Dec. 2025, </a:t>
            </a:r>
            <a:r>
              <a:rPr lang="en-IN" sz="1500" dirty="0" err="1">
                <a:latin typeface="Times New Roman" panose="02020603050405020304" pitchFamily="18" charset="0"/>
                <a:cs typeface="Times New Roman" panose="02020603050405020304" pitchFamily="18" charset="0"/>
              </a:rPr>
              <a:t>doi</a:t>
            </a:r>
            <a:r>
              <a:rPr lang="en-IN" sz="1500" dirty="0">
                <a:latin typeface="Times New Roman" panose="02020603050405020304" pitchFamily="18" charset="0"/>
                <a:cs typeface="Times New Roman" panose="02020603050405020304" pitchFamily="18" charset="0"/>
              </a:rPr>
              <a:t>: 10.1007/s42600-025-00438-y. </a:t>
            </a:r>
          </a:p>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L. Avanzino, G. </a:t>
            </a:r>
            <a:r>
              <a:rPr lang="en-IN" sz="1500" dirty="0" err="1">
                <a:latin typeface="Times New Roman" panose="02020603050405020304" pitchFamily="18" charset="0"/>
                <a:cs typeface="Times New Roman" panose="02020603050405020304" pitchFamily="18" charset="0"/>
              </a:rPr>
              <a:t>Lagravinese</a:t>
            </a:r>
            <a:r>
              <a:rPr lang="en-IN" sz="1500" dirty="0">
                <a:latin typeface="Times New Roman" panose="02020603050405020304" pitchFamily="18" charset="0"/>
                <a:cs typeface="Times New Roman" panose="02020603050405020304" pitchFamily="18" charset="0"/>
              </a:rPr>
              <a:t>, G. Abbruzzese, and E. </a:t>
            </a:r>
            <a:r>
              <a:rPr lang="en-IN" sz="1500" dirty="0" err="1">
                <a:latin typeface="Times New Roman" panose="02020603050405020304" pitchFamily="18" charset="0"/>
                <a:cs typeface="Times New Roman" panose="02020603050405020304" pitchFamily="18" charset="0"/>
              </a:rPr>
              <a:t>Pelosin</a:t>
            </a:r>
            <a:r>
              <a:rPr lang="en-IN" sz="1500" dirty="0">
                <a:latin typeface="Times New Roman" panose="02020603050405020304" pitchFamily="18" charset="0"/>
                <a:cs typeface="Times New Roman" panose="02020603050405020304" pitchFamily="18" charset="0"/>
              </a:rPr>
              <a:t>, “Relationships between gait and emotion in Parkinson’s disease: A narrative review,” Gait Posture, vol. 65, pp. 57–64, Sep. 2018, </a:t>
            </a:r>
            <a:r>
              <a:rPr lang="en-IN" sz="1500" dirty="0" err="1">
                <a:latin typeface="Times New Roman" panose="02020603050405020304" pitchFamily="18" charset="0"/>
                <a:cs typeface="Times New Roman" panose="02020603050405020304" pitchFamily="18" charset="0"/>
              </a:rPr>
              <a:t>doi</a:t>
            </a:r>
            <a:r>
              <a:rPr lang="en-IN" sz="1500" dirty="0">
                <a:latin typeface="Times New Roman" panose="02020603050405020304" pitchFamily="18" charset="0"/>
                <a:cs typeface="Times New Roman" panose="02020603050405020304" pitchFamily="18" charset="0"/>
              </a:rPr>
              <a:t>: 10.1016/j.gaitpost.2018.06.171. </a:t>
            </a:r>
          </a:p>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S. K. Bansal, B. Basumatary, R. Bansal, and A. K. Sahani, “Techniques for the detection and management of freezing of gait in Parkinson’s disease – A systematic review and future perspectives,” </a:t>
            </a:r>
            <a:r>
              <a:rPr lang="en-IN" sz="1500" dirty="0" err="1">
                <a:latin typeface="Times New Roman" panose="02020603050405020304" pitchFamily="18" charset="0"/>
                <a:cs typeface="Times New Roman" panose="02020603050405020304" pitchFamily="18" charset="0"/>
              </a:rPr>
              <a:t>MethodsX</a:t>
            </a:r>
            <a:r>
              <a:rPr lang="en-IN" sz="1500" dirty="0">
                <a:latin typeface="Times New Roman" panose="02020603050405020304" pitchFamily="18" charset="0"/>
                <a:cs typeface="Times New Roman" panose="02020603050405020304" pitchFamily="18" charset="0"/>
              </a:rPr>
              <a:t>, 10.1016/j.mex.2023.102106. vol. 10, p. 102106, 2023, </a:t>
            </a:r>
            <a:r>
              <a:rPr lang="en-IN" sz="1500" dirty="0" err="1">
                <a:latin typeface="Times New Roman" panose="02020603050405020304" pitchFamily="18" charset="0"/>
                <a:cs typeface="Times New Roman" panose="02020603050405020304" pitchFamily="18" charset="0"/>
              </a:rPr>
              <a:t>doi</a:t>
            </a:r>
            <a:r>
              <a:rPr lang="en-IN" sz="1500" dirty="0">
                <a:latin typeface="Times New Roman" panose="02020603050405020304" pitchFamily="18" charset="0"/>
                <a:cs typeface="Times New Roman" panose="02020603050405020304" pitchFamily="18" charset="0"/>
              </a:rPr>
              <a:t>: 10.1016/j.mex.2023.102106. </a:t>
            </a:r>
          </a:p>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S. J. Yun et al., “Efficacy of personalized repetitive transcranial magnetic stimulation based on functional reserve to enhance ambulatory function in patients with Parkinson’s disease: study protocol for a randomized controlled trial,” Trials, vol. 25, no. 1, p. 543, Aug. 2024, </a:t>
            </a:r>
            <a:r>
              <a:rPr lang="en-IN" sz="1500" dirty="0" err="1">
                <a:latin typeface="Times New Roman" panose="02020603050405020304" pitchFamily="18" charset="0"/>
                <a:cs typeface="Times New Roman" panose="02020603050405020304" pitchFamily="18" charset="0"/>
              </a:rPr>
              <a:t>doi</a:t>
            </a:r>
            <a:r>
              <a:rPr lang="en-IN" sz="1500" dirty="0">
                <a:latin typeface="Times New Roman" panose="02020603050405020304" pitchFamily="18" charset="0"/>
                <a:cs typeface="Times New Roman" panose="02020603050405020304" pitchFamily="18" charset="0"/>
              </a:rPr>
              <a:t>: 10.1186/s13063-024-08385-2.</a:t>
            </a:r>
          </a:p>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D. Humaidan, G. Kozák, and U. Ziemann, “Closed-Loop TMS,” in Navigated Transcranial Magnetic Stimulation in Neurosurgery, Cham: Springer Nature Switzerland, 2025, pp. 355–367. </a:t>
            </a:r>
            <a:r>
              <a:rPr lang="en-IN" sz="1500" dirty="0" err="1">
                <a:latin typeface="Times New Roman" panose="02020603050405020304" pitchFamily="18" charset="0"/>
                <a:cs typeface="Times New Roman" panose="02020603050405020304" pitchFamily="18" charset="0"/>
              </a:rPr>
              <a:t>doi</a:t>
            </a:r>
            <a:r>
              <a:rPr lang="en-IN" sz="1500" dirty="0">
                <a:latin typeface="Times New Roman" panose="02020603050405020304" pitchFamily="18" charset="0"/>
                <a:cs typeface="Times New Roman" panose="02020603050405020304" pitchFamily="18" charset="0"/>
              </a:rPr>
              <a:t>: 10.1007/978-3-031-97155-6_19.</a:t>
            </a:r>
          </a:p>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G. </a:t>
            </a:r>
            <a:r>
              <a:rPr lang="en-IN" sz="1500" dirty="0" err="1">
                <a:latin typeface="Times New Roman" panose="02020603050405020304" pitchFamily="18" charset="0"/>
                <a:cs typeface="Times New Roman" panose="02020603050405020304" pitchFamily="18" charset="0"/>
              </a:rPr>
              <a:t>Deuschl</a:t>
            </a:r>
            <a:r>
              <a:rPr lang="en-IN" sz="1500" dirty="0">
                <a:latin typeface="Times New Roman" panose="02020603050405020304" pitchFamily="18" charset="0"/>
                <a:cs typeface="Times New Roman" panose="02020603050405020304" pitchFamily="18" charset="0"/>
              </a:rPr>
              <a:t> </a:t>
            </a:r>
            <a:r>
              <a:rPr lang="en-IN" sz="1500" i="1" dirty="0">
                <a:latin typeface="Times New Roman" panose="02020603050405020304" pitchFamily="18" charset="0"/>
                <a:cs typeface="Times New Roman" panose="02020603050405020304" pitchFamily="18" charset="0"/>
              </a:rPr>
              <a:t>et al.</a:t>
            </a:r>
            <a:r>
              <a:rPr lang="en-IN" sz="1500" dirty="0">
                <a:latin typeface="Times New Roman" panose="02020603050405020304" pitchFamily="18" charset="0"/>
                <a:cs typeface="Times New Roman" panose="02020603050405020304" pitchFamily="18" charset="0"/>
              </a:rPr>
              <a:t>, “A Randomized Trial of Deep-Brain Stimulation for Parkinson’s Disease,” </a:t>
            </a:r>
            <a:r>
              <a:rPr lang="en-IN" sz="1500" i="1" dirty="0">
                <a:latin typeface="Times New Roman" panose="02020603050405020304" pitchFamily="18" charset="0"/>
                <a:cs typeface="Times New Roman" panose="02020603050405020304" pitchFamily="18" charset="0"/>
              </a:rPr>
              <a:t>New England Journal of Medicine</a:t>
            </a:r>
            <a:r>
              <a:rPr lang="en-IN" sz="1500" dirty="0">
                <a:latin typeface="Times New Roman" panose="02020603050405020304" pitchFamily="18" charset="0"/>
                <a:cs typeface="Times New Roman" panose="02020603050405020304" pitchFamily="18" charset="0"/>
              </a:rPr>
              <a:t>, vol. 355, no. 9, pp. 896–908, Aug. 2006, </a:t>
            </a:r>
            <a:r>
              <a:rPr lang="en-IN" sz="1500" dirty="0" err="1">
                <a:latin typeface="Times New Roman" panose="02020603050405020304" pitchFamily="18" charset="0"/>
                <a:cs typeface="Times New Roman" panose="02020603050405020304" pitchFamily="18" charset="0"/>
              </a:rPr>
              <a:t>doi</a:t>
            </a:r>
            <a:r>
              <a:rPr lang="en-IN" sz="1500" dirty="0">
                <a:latin typeface="Times New Roman" panose="02020603050405020304" pitchFamily="18" charset="0"/>
                <a:cs typeface="Times New Roman" panose="02020603050405020304" pitchFamily="18" charset="0"/>
              </a:rPr>
              <a:t>: 10.1056/NEJMoa060281.</a:t>
            </a:r>
          </a:p>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D. Urso </a:t>
            </a:r>
            <a:r>
              <a:rPr lang="en-IN" sz="1500" i="1" dirty="0">
                <a:latin typeface="Times New Roman" panose="02020603050405020304" pitchFamily="18" charset="0"/>
                <a:cs typeface="Times New Roman" panose="02020603050405020304" pitchFamily="18" charset="0"/>
              </a:rPr>
              <a:t>et al.</a:t>
            </a:r>
            <a:r>
              <a:rPr lang="en-IN" sz="1500" dirty="0">
                <a:latin typeface="Times New Roman" panose="02020603050405020304" pitchFamily="18" charset="0"/>
                <a:cs typeface="Times New Roman" panose="02020603050405020304" pitchFamily="18" charset="0"/>
              </a:rPr>
              <a:t>, “Transcranial static magnetic field stimulation of the primary motor cortex in essential tremor: a randomized pilot study,” </a:t>
            </a:r>
            <a:r>
              <a:rPr lang="en-IN" sz="1500" i="1" dirty="0">
                <a:latin typeface="Times New Roman" panose="02020603050405020304" pitchFamily="18" charset="0"/>
                <a:cs typeface="Times New Roman" panose="02020603050405020304" pitchFamily="18" charset="0"/>
              </a:rPr>
              <a:t>NPJ Parkinsons Dis</a:t>
            </a:r>
            <a:r>
              <a:rPr lang="en-IN" sz="1500" dirty="0">
                <a:latin typeface="Times New Roman" panose="02020603050405020304" pitchFamily="18" charset="0"/>
                <a:cs typeface="Times New Roman" panose="02020603050405020304" pitchFamily="18" charset="0"/>
              </a:rPr>
              <a:t>, vol. 11, no. 1, p. 336, Nov. 2025, </a:t>
            </a:r>
            <a:r>
              <a:rPr lang="en-IN" sz="1500" dirty="0" err="1">
                <a:latin typeface="Times New Roman" panose="02020603050405020304" pitchFamily="18" charset="0"/>
                <a:cs typeface="Times New Roman" panose="02020603050405020304" pitchFamily="18" charset="0"/>
              </a:rPr>
              <a:t>doi</a:t>
            </a:r>
            <a:r>
              <a:rPr lang="en-IN" sz="1500" dirty="0">
                <a:latin typeface="Times New Roman" panose="02020603050405020304" pitchFamily="18" charset="0"/>
                <a:cs typeface="Times New Roman" panose="02020603050405020304" pitchFamily="18" charset="0"/>
              </a:rPr>
              <a:t>: 10.1038/s41531-025-01182-x.</a:t>
            </a:r>
          </a:p>
          <a:p>
            <a:pPr marL="2857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L. Zhang, G. Xing, Y. Fan, Z. Guo, H. Chen, and Q. Mu, “Short- and Long-term Effects of Repetitive Transcranial Magnetic Stimulation on Upper Limb Motor Function after Stroke: a Systematic Review and Meta-Analysis,” </a:t>
            </a:r>
            <a:r>
              <a:rPr lang="en-IN" sz="1500" i="1" dirty="0">
                <a:latin typeface="Times New Roman" panose="02020603050405020304" pitchFamily="18" charset="0"/>
                <a:cs typeface="Times New Roman" panose="02020603050405020304" pitchFamily="18" charset="0"/>
              </a:rPr>
              <a:t>Clin </a:t>
            </a:r>
            <a:r>
              <a:rPr lang="en-IN" sz="1500" i="1" dirty="0" err="1">
                <a:latin typeface="Times New Roman" panose="02020603050405020304" pitchFamily="18" charset="0"/>
                <a:cs typeface="Times New Roman" panose="02020603050405020304" pitchFamily="18" charset="0"/>
              </a:rPr>
              <a:t>Rehabil</a:t>
            </a:r>
            <a:r>
              <a:rPr lang="en-IN" sz="1500" dirty="0">
                <a:latin typeface="Times New Roman" panose="02020603050405020304" pitchFamily="18" charset="0"/>
                <a:cs typeface="Times New Roman" panose="02020603050405020304" pitchFamily="18" charset="0"/>
              </a:rPr>
              <a:t>, vol. 31, no. 9, pp. 1137–1153, Sep. 2017, </a:t>
            </a:r>
            <a:r>
              <a:rPr lang="en-IN" sz="1500" dirty="0" err="1">
                <a:latin typeface="Times New Roman" panose="02020603050405020304" pitchFamily="18" charset="0"/>
                <a:cs typeface="Times New Roman" panose="02020603050405020304" pitchFamily="18" charset="0"/>
              </a:rPr>
              <a:t>doi</a:t>
            </a:r>
            <a:r>
              <a:rPr lang="en-IN" sz="1500" dirty="0">
                <a:latin typeface="Times New Roman" panose="02020603050405020304" pitchFamily="18" charset="0"/>
                <a:cs typeface="Times New Roman" panose="02020603050405020304" pitchFamily="18" charset="0"/>
              </a:rPr>
              <a:t>: 10.1177/0269215517692386.</a:t>
            </a:r>
          </a:p>
        </p:txBody>
      </p:sp>
    </p:spTree>
    <p:extLst>
      <p:ext uri="{BB962C8B-B14F-4D97-AF65-F5344CB8AC3E}">
        <p14:creationId xmlns:p14="http://schemas.microsoft.com/office/powerpoint/2010/main" val="2368952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A0A876-21CD-1442-679E-98A7A6B8185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363093"/>
          </a:xfrm>
          <a:prstGeom prst="rect">
            <a:avLst/>
          </a:prstGeom>
        </p:spPr>
      </p:pic>
    </p:spTree>
    <p:extLst>
      <p:ext uri="{BB962C8B-B14F-4D97-AF65-F5344CB8AC3E}">
        <p14:creationId xmlns:p14="http://schemas.microsoft.com/office/powerpoint/2010/main" val="2338111740"/>
      </p:ext>
    </p:extLst>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46464A"/>
      </a:dk2>
      <a:lt2>
        <a:srgbClr val="D1D9E1"/>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BAB94BD4-5D6D-4148-AB57-A4CCF1FD4E0C}"/>
    </a:ext>
  </a:extLst>
</a:theme>
</file>

<file path=docProps/app.xml><?xml version="1.0" encoding="utf-8"?>
<Properties xmlns="http://schemas.openxmlformats.org/officeDocument/2006/extended-properties" xmlns:vt="http://schemas.openxmlformats.org/officeDocument/2006/docPropsVTypes">
  <Template>Retrospect</Template>
  <TotalTime>2919</TotalTime>
  <Words>4278</Words>
  <Application>Microsoft Office PowerPoint</Application>
  <PresentationFormat>Widescreen</PresentationFormat>
  <Paragraphs>334</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Calibri Light</vt:lpstr>
      <vt:lpstr>Courier New</vt:lpstr>
      <vt:lpstr>Symbol</vt:lpstr>
      <vt:lpstr>Times New Roman</vt:lpstr>
      <vt:lpstr>Retrospect</vt:lpstr>
      <vt:lpstr>  BENG 294A PATIENT CENTERED CLINICAL MEDICINE FINAL PRESENTATION  Novel Therapeutic: Wearable Transcranial Magnetic Neuromodulation Cap for Motor Symptom Management in Parkinson’s Disease  </vt:lpstr>
      <vt:lpstr>PowerPoint Presentation</vt:lpstr>
      <vt:lpstr>Introduction to Parkinson’s Disease</vt:lpstr>
      <vt:lpstr>Introduction to Parkinson’s Disease</vt:lpstr>
      <vt:lpstr>Quantifying Motor Symptoms A. Devices</vt:lpstr>
      <vt:lpstr>Quantifying Motor Symptoms B. Clinical Tests and Rating Scales</vt:lpstr>
      <vt:lpstr>Current Treatment Strategies</vt:lpstr>
      <vt:lpstr>Proposed Novel Therapeutic</vt:lpstr>
      <vt:lpstr>Proposed Novel Therapeutic</vt:lpstr>
      <vt:lpstr>ADVANTAGES OVER CURRENT THERAPEUTICS</vt:lpstr>
      <vt:lpstr>Device Clearance</vt:lpstr>
      <vt:lpstr>Designing a Clinical Trial A. First In-human Clinical Trial</vt:lpstr>
      <vt:lpstr>Designing a Clinical Trial A. First In-human Clinical Trial</vt:lpstr>
      <vt:lpstr>Designing a Clinical Trial A. First In-human Clinical Trial</vt:lpstr>
      <vt:lpstr>Designing a Clinical Trial A. First In-human Clinical Trial</vt:lpstr>
      <vt:lpstr>Designing a Clinical Trial B. PIVOTAL PHASE 3 CLINICAL TRIAL</vt:lpstr>
      <vt:lpstr>Designing a Clinical Trial B. PIVOTAL PHASE 3 CLINICAL TRIAL</vt:lpstr>
      <vt:lpstr>Designing a Clinical Trial B. PIVOTAL PHASE 3 CLINICAL TRIAL</vt:lpstr>
      <vt:lpstr>Designing a Clinical Trial B. PIVOTAL PHASE 3 CLINICAL TRIAL</vt:lpstr>
      <vt:lpstr>Device Clearance</vt:lpstr>
      <vt:lpstr>Market Entry</vt:lpstr>
      <vt:lpstr>Market Entry</vt:lpstr>
      <vt:lpstr>Market Entry</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Lele</dc:creator>
  <cp:lastModifiedBy>Abhishek Lele</cp:lastModifiedBy>
  <cp:revision>3</cp:revision>
  <dcterms:created xsi:type="dcterms:W3CDTF">2025-12-01T01:09:22Z</dcterms:created>
  <dcterms:modified xsi:type="dcterms:W3CDTF">2025-12-04T02:21:38Z</dcterms:modified>
</cp:coreProperties>
</file>